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Helvetica World" panose="020B0604020202020204" charset="-128"/>
      <p:regular r:id="rId11"/>
    </p:embeddedFont>
    <p:embeddedFont>
      <p:font typeface="Helvetica World Bold" panose="020B0604020202020204" charset="-128"/>
      <p:regular r:id="rId12"/>
    </p:embeddedFont>
    <p:embeddedFont>
      <p:font typeface="Helvetica World Bold Italics" panose="020B0604020202020204" charset="-128"/>
      <p:regular r:id="rId13"/>
    </p:embeddedFont>
    <p:embeddedFont>
      <p:font typeface="Canva Sans" panose="020B0604020202020204" charset="0"/>
      <p:regular r:id="rId14"/>
    </p:embeddedFont>
    <p:embeddedFont>
      <p:font typeface="Canva Sans Italics" panose="020B0604020202020204" charset="0"/>
      <p:regular r:id="rId15"/>
    </p:embeddedFont>
    <p:embeddedFont>
      <p:font typeface="Glacial Indifference" panose="020B0604020202020204" charset="0"/>
      <p:regular r:id="rId16"/>
    </p:embeddedFont>
    <p:embeddedFont>
      <p:font typeface="Glacial Indifference Bold" panose="020B0604020202020204" charset="0"/>
      <p:regular r:id="rId17"/>
    </p:embeddedFont>
    <p:embeddedFont>
      <p:font typeface="Inter"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3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Athysya binti Roslan" userId="c0cc9386-69be-4aee-b05e-b9d6b063c326" providerId="ADAL" clId="{1240475C-95EA-45BE-B452-7F2BA525272B}"/>
    <pc:docChg chg="undo custSel modSld">
      <pc:chgData name="Nur Athysya binti Roslan" userId="c0cc9386-69be-4aee-b05e-b9d6b063c326" providerId="ADAL" clId="{1240475C-95EA-45BE-B452-7F2BA525272B}" dt="2025-04-14T15:00:23.917" v="5" actId="14100"/>
      <pc:docMkLst>
        <pc:docMk/>
      </pc:docMkLst>
      <pc:sldChg chg="modSp mod">
        <pc:chgData name="Nur Athysya binti Roslan" userId="c0cc9386-69be-4aee-b05e-b9d6b063c326" providerId="ADAL" clId="{1240475C-95EA-45BE-B452-7F2BA525272B}" dt="2025-04-14T14:59:44.916" v="1" actId="1076"/>
        <pc:sldMkLst>
          <pc:docMk/>
          <pc:sldMk cId="0" sldId="257"/>
        </pc:sldMkLst>
        <pc:spChg chg="mod">
          <ac:chgData name="Nur Athysya binti Roslan" userId="c0cc9386-69be-4aee-b05e-b9d6b063c326" providerId="ADAL" clId="{1240475C-95EA-45BE-B452-7F2BA525272B}" dt="2025-04-14T14:59:44.916" v="1" actId="1076"/>
          <ac:spMkLst>
            <pc:docMk/>
            <pc:sldMk cId="0" sldId="257"/>
            <ac:spMk id="4" creationId="{00000000-0000-0000-0000-000000000000}"/>
          </ac:spMkLst>
        </pc:spChg>
      </pc:sldChg>
      <pc:sldChg chg="modSp mod">
        <pc:chgData name="Nur Athysya binti Roslan" userId="c0cc9386-69be-4aee-b05e-b9d6b063c326" providerId="ADAL" clId="{1240475C-95EA-45BE-B452-7F2BA525272B}" dt="2025-04-14T15:00:23.917" v="5" actId="14100"/>
        <pc:sldMkLst>
          <pc:docMk/>
          <pc:sldMk cId="0" sldId="260"/>
        </pc:sldMkLst>
        <pc:spChg chg="mod">
          <ac:chgData name="Nur Athysya binti Roslan" userId="c0cc9386-69be-4aee-b05e-b9d6b063c326" providerId="ADAL" clId="{1240475C-95EA-45BE-B452-7F2BA525272B}" dt="2025-04-14T15:00:23.917" v="5" actId="14100"/>
          <ac:spMkLst>
            <pc:docMk/>
            <pc:sldMk cId="0" sldId="260"/>
            <ac:spMk id="6" creationId="{00000000-0000-0000-0000-000000000000}"/>
          </ac:spMkLst>
        </pc:spChg>
      </pc:sldChg>
      <pc:sldChg chg="modSp mod">
        <pc:chgData name="Nur Athysya binti Roslan" userId="c0cc9386-69be-4aee-b05e-b9d6b063c326" providerId="ADAL" clId="{1240475C-95EA-45BE-B452-7F2BA525272B}" dt="2025-04-14T15:00:19.389" v="4" actId="14100"/>
        <pc:sldMkLst>
          <pc:docMk/>
          <pc:sldMk cId="0" sldId="261"/>
        </pc:sldMkLst>
        <pc:spChg chg="mod">
          <ac:chgData name="Nur Athysya binti Roslan" userId="c0cc9386-69be-4aee-b05e-b9d6b063c326" providerId="ADAL" clId="{1240475C-95EA-45BE-B452-7F2BA525272B}" dt="2025-04-14T15:00:19.389" v="4" actId="14100"/>
          <ac:spMkLst>
            <pc:docMk/>
            <pc:sldMk cId="0" sldId="261"/>
            <ac:spMk id="6" creationId="{00000000-0000-0000-0000-000000000000}"/>
          </ac:spMkLst>
        </pc:spChg>
      </pc:sldChg>
      <pc:sldChg chg="modSp mod">
        <pc:chgData name="Nur Athysya binti Roslan" userId="c0cc9386-69be-4aee-b05e-b9d6b063c326" providerId="ADAL" clId="{1240475C-95EA-45BE-B452-7F2BA525272B}" dt="2025-04-14T15:00:14.293" v="3" actId="14100"/>
        <pc:sldMkLst>
          <pc:docMk/>
          <pc:sldMk cId="0" sldId="262"/>
        </pc:sldMkLst>
        <pc:spChg chg="mod">
          <ac:chgData name="Nur Athysya binti Roslan" userId="c0cc9386-69be-4aee-b05e-b9d6b063c326" providerId="ADAL" clId="{1240475C-95EA-45BE-B452-7F2BA525272B}" dt="2025-04-14T15:00:14.293" v="3" actId="14100"/>
          <ac:spMkLst>
            <pc:docMk/>
            <pc:sldMk cId="0" sldId="262"/>
            <ac:spMk id="6" creationId="{00000000-0000-0000-0000-000000000000}"/>
          </ac:spMkLst>
        </pc:spChg>
      </pc:sldChg>
      <pc:sldChg chg="modSp mod">
        <pc:chgData name="Nur Athysya binti Roslan" userId="c0cc9386-69be-4aee-b05e-b9d6b063c326" providerId="ADAL" clId="{1240475C-95EA-45BE-B452-7F2BA525272B}" dt="2025-04-14T15:00:10.437" v="2" actId="14100"/>
        <pc:sldMkLst>
          <pc:docMk/>
          <pc:sldMk cId="0" sldId="263"/>
        </pc:sldMkLst>
        <pc:spChg chg="mod">
          <ac:chgData name="Nur Athysya binti Roslan" userId="c0cc9386-69be-4aee-b05e-b9d6b063c326" providerId="ADAL" clId="{1240475C-95EA-45BE-B452-7F2BA525272B}" dt="2025-04-14T15:00:10.437" v="2" actId="14100"/>
          <ac:spMkLst>
            <pc:docMk/>
            <pc:sldMk cId="0" sldId="263"/>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427"/>
        </a:solidFill>
        <a:effectLst/>
      </p:bgPr>
    </p:bg>
    <p:spTree>
      <p:nvGrpSpPr>
        <p:cNvPr id="1" name=""/>
        <p:cNvGrpSpPr/>
        <p:nvPr/>
      </p:nvGrpSpPr>
      <p:grpSpPr>
        <a:xfrm>
          <a:off x="0" y="0"/>
          <a:ext cx="0" cy="0"/>
          <a:chOff x="0" y="0"/>
          <a:chExt cx="0" cy="0"/>
        </a:xfrm>
      </p:grpSpPr>
      <p:sp>
        <p:nvSpPr>
          <p:cNvPr id="2" name="Freeform 2"/>
          <p:cNvSpPr/>
          <p:nvPr/>
        </p:nvSpPr>
        <p:spPr>
          <a:xfrm>
            <a:off x="0" y="-978719"/>
            <a:ext cx="18280378" cy="11433183"/>
          </a:xfrm>
          <a:custGeom>
            <a:avLst/>
            <a:gdLst/>
            <a:ahLst/>
            <a:cxnLst/>
            <a:rect l="l" t="t" r="r" b="b"/>
            <a:pathLst>
              <a:path w="18280378" h="11433183">
                <a:moveTo>
                  <a:pt x="0" y="0"/>
                </a:moveTo>
                <a:lnTo>
                  <a:pt x="18280378" y="0"/>
                </a:lnTo>
                <a:lnTo>
                  <a:pt x="18280378" y="11433183"/>
                </a:lnTo>
                <a:lnTo>
                  <a:pt x="0" y="11433183"/>
                </a:lnTo>
                <a:lnTo>
                  <a:pt x="0" y="0"/>
                </a:lnTo>
                <a:close/>
              </a:path>
            </a:pathLst>
          </a:custGeom>
          <a:blipFill>
            <a:blip r:embed="rId2"/>
            <a:stretch>
              <a:fillRect l="-5594" r="-5594"/>
            </a:stretch>
          </a:blipFill>
        </p:spPr>
        <p:txBody>
          <a:bodyPr/>
          <a:lstStyle/>
          <a:p>
            <a:endParaRPr lang="en-MY"/>
          </a:p>
        </p:txBody>
      </p:sp>
      <p:sp>
        <p:nvSpPr>
          <p:cNvPr id="3" name="TextBox 3"/>
          <p:cNvSpPr txBox="1"/>
          <p:nvPr/>
        </p:nvSpPr>
        <p:spPr>
          <a:xfrm>
            <a:off x="1028700" y="708373"/>
            <a:ext cx="5067471" cy="257175"/>
          </a:xfrm>
          <a:prstGeom prst="rect">
            <a:avLst/>
          </a:prstGeom>
        </p:spPr>
        <p:txBody>
          <a:bodyPr lIns="0" tIns="0" rIns="0" bIns="0" rtlCol="0" anchor="t">
            <a:spAutoFit/>
          </a:bodyPr>
          <a:lstStyle/>
          <a:p>
            <a:pPr algn="just">
              <a:lnSpc>
                <a:spcPts val="2045"/>
              </a:lnSpc>
            </a:pPr>
            <a:r>
              <a:rPr lang="en-US" sz="1704">
                <a:solidFill>
                  <a:srgbClr val="FFFFFF"/>
                </a:solidFill>
                <a:latin typeface="Helvetica World"/>
                <a:ea typeface="Helvetica World"/>
                <a:cs typeface="Helvetica World"/>
                <a:sym typeface="Helvetica World"/>
              </a:rPr>
              <a:t>CISB5123  TEXT ANALYTICS</a:t>
            </a:r>
          </a:p>
        </p:txBody>
      </p:sp>
      <p:sp>
        <p:nvSpPr>
          <p:cNvPr id="4" name="TextBox 4"/>
          <p:cNvSpPr txBox="1"/>
          <p:nvPr/>
        </p:nvSpPr>
        <p:spPr>
          <a:xfrm>
            <a:off x="1434662" y="7383884"/>
            <a:ext cx="2769994" cy="1045921"/>
          </a:xfrm>
          <a:prstGeom prst="rect">
            <a:avLst/>
          </a:prstGeom>
        </p:spPr>
        <p:txBody>
          <a:bodyPr lIns="0" tIns="0" rIns="0" bIns="0" rtlCol="0" anchor="t">
            <a:spAutoFit/>
          </a:bodyPr>
          <a:lstStyle/>
          <a:p>
            <a:pPr algn="ctr">
              <a:lnSpc>
                <a:spcPts val="3602"/>
              </a:lnSpc>
            </a:pPr>
            <a:r>
              <a:rPr lang="en-US" sz="3602" b="1" dirty="0">
                <a:solidFill>
                  <a:srgbClr val="FFFFFF"/>
                </a:solidFill>
                <a:latin typeface="Helvetica World Bold"/>
                <a:ea typeface="Helvetica World Bold"/>
                <a:cs typeface="Helvetica World Bold"/>
                <a:sym typeface="Helvetica World Bold"/>
              </a:rPr>
              <a:t>PROJECT MEMBERS</a:t>
            </a:r>
          </a:p>
        </p:txBody>
      </p:sp>
      <p:sp>
        <p:nvSpPr>
          <p:cNvPr id="5" name="TextBox 5"/>
          <p:cNvSpPr txBox="1"/>
          <p:nvPr/>
        </p:nvSpPr>
        <p:spPr>
          <a:xfrm>
            <a:off x="1434662" y="1591457"/>
            <a:ext cx="10909300" cy="1106806"/>
          </a:xfrm>
          <a:prstGeom prst="rect">
            <a:avLst/>
          </a:prstGeom>
        </p:spPr>
        <p:txBody>
          <a:bodyPr lIns="0" tIns="0" rIns="0" bIns="0" rtlCol="0" anchor="t">
            <a:spAutoFit/>
          </a:bodyPr>
          <a:lstStyle/>
          <a:p>
            <a:pPr algn="l">
              <a:lnSpc>
                <a:spcPts val="7200"/>
              </a:lnSpc>
            </a:pPr>
            <a:r>
              <a:rPr lang="en-US" sz="8000" b="1" spc="-240" dirty="0">
                <a:solidFill>
                  <a:srgbClr val="FFFFFF"/>
                </a:solidFill>
                <a:latin typeface="Helvetica World Bold"/>
                <a:ea typeface="Helvetica World Bold"/>
                <a:cs typeface="Helvetica World Bold"/>
                <a:sym typeface="Helvetica World Bold"/>
              </a:rPr>
              <a:t>Project Part 1</a:t>
            </a:r>
          </a:p>
        </p:txBody>
      </p:sp>
      <p:sp>
        <p:nvSpPr>
          <p:cNvPr id="6" name="TextBox 6"/>
          <p:cNvSpPr txBox="1"/>
          <p:nvPr/>
        </p:nvSpPr>
        <p:spPr>
          <a:xfrm>
            <a:off x="2899452" y="3015614"/>
            <a:ext cx="10851167" cy="2127886"/>
          </a:xfrm>
          <a:prstGeom prst="rect">
            <a:avLst/>
          </a:prstGeom>
        </p:spPr>
        <p:txBody>
          <a:bodyPr lIns="0" tIns="0" rIns="0" bIns="0" rtlCol="0" anchor="t">
            <a:spAutoFit/>
          </a:bodyPr>
          <a:lstStyle/>
          <a:p>
            <a:pPr algn="l">
              <a:lnSpc>
                <a:spcPts val="7200"/>
              </a:lnSpc>
            </a:pPr>
            <a:r>
              <a:rPr lang="en-US" sz="8000" b="1" spc="-240">
                <a:solidFill>
                  <a:srgbClr val="C2EA22"/>
                </a:solidFill>
                <a:latin typeface="Helvetica World Bold"/>
                <a:ea typeface="Helvetica World Bold"/>
                <a:cs typeface="Helvetica World Bold"/>
                <a:sym typeface="Helvetica World Bold"/>
              </a:rPr>
              <a:t>Data Collection &amp; Preprocessing</a:t>
            </a:r>
          </a:p>
        </p:txBody>
      </p:sp>
      <p:sp>
        <p:nvSpPr>
          <p:cNvPr id="7" name="TextBox 7"/>
          <p:cNvSpPr txBox="1"/>
          <p:nvPr/>
        </p:nvSpPr>
        <p:spPr>
          <a:xfrm>
            <a:off x="10053170" y="6405837"/>
            <a:ext cx="2168604" cy="523875"/>
          </a:xfrm>
          <a:prstGeom prst="rect">
            <a:avLst/>
          </a:prstGeom>
        </p:spPr>
        <p:txBody>
          <a:bodyPr lIns="0" tIns="0" rIns="0" bIns="0" rtlCol="0" anchor="t">
            <a:spAutoFit/>
          </a:bodyPr>
          <a:lstStyle/>
          <a:p>
            <a:pPr algn="ctr">
              <a:lnSpc>
                <a:spcPts val="4200"/>
              </a:lnSpc>
            </a:pPr>
            <a:r>
              <a:rPr lang="en-US" sz="3000">
                <a:solidFill>
                  <a:srgbClr val="FFFFFF"/>
                </a:solidFill>
                <a:latin typeface="Inter"/>
                <a:ea typeface="Inter"/>
                <a:cs typeface="Inter"/>
                <a:sym typeface="Inter"/>
              </a:rPr>
              <a:t>IS01082893</a:t>
            </a:r>
          </a:p>
        </p:txBody>
      </p:sp>
      <p:sp>
        <p:nvSpPr>
          <p:cNvPr id="8" name="TextBox 8"/>
          <p:cNvSpPr txBox="1"/>
          <p:nvPr/>
        </p:nvSpPr>
        <p:spPr>
          <a:xfrm>
            <a:off x="10057754" y="7021934"/>
            <a:ext cx="2159437" cy="523875"/>
          </a:xfrm>
          <a:prstGeom prst="rect">
            <a:avLst/>
          </a:prstGeom>
        </p:spPr>
        <p:txBody>
          <a:bodyPr lIns="0" tIns="0" rIns="0" bIns="0" rtlCol="0" anchor="t">
            <a:spAutoFit/>
          </a:bodyPr>
          <a:lstStyle/>
          <a:p>
            <a:pPr algn="ctr">
              <a:lnSpc>
                <a:spcPts val="4200"/>
              </a:lnSpc>
            </a:pPr>
            <a:r>
              <a:rPr lang="en-US" sz="3000">
                <a:solidFill>
                  <a:srgbClr val="FFFFFF"/>
                </a:solidFill>
                <a:latin typeface="Inter"/>
                <a:ea typeface="Inter"/>
                <a:cs typeface="Inter"/>
                <a:sym typeface="Inter"/>
              </a:rPr>
              <a:t>IS01082926</a:t>
            </a:r>
          </a:p>
        </p:txBody>
      </p:sp>
      <p:sp>
        <p:nvSpPr>
          <p:cNvPr id="9" name="TextBox 9"/>
          <p:cNvSpPr txBox="1"/>
          <p:nvPr/>
        </p:nvSpPr>
        <p:spPr>
          <a:xfrm>
            <a:off x="10061267" y="7639716"/>
            <a:ext cx="2152412" cy="523875"/>
          </a:xfrm>
          <a:prstGeom prst="rect">
            <a:avLst/>
          </a:prstGeom>
        </p:spPr>
        <p:txBody>
          <a:bodyPr lIns="0" tIns="0" rIns="0" bIns="0" rtlCol="0" anchor="t">
            <a:spAutoFit/>
          </a:bodyPr>
          <a:lstStyle/>
          <a:p>
            <a:pPr algn="ctr">
              <a:lnSpc>
                <a:spcPts val="4200"/>
              </a:lnSpc>
            </a:pPr>
            <a:r>
              <a:rPr lang="en-US" sz="3000">
                <a:solidFill>
                  <a:srgbClr val="FFFFFF"/>
                </a:solidFill>
                <a:latin typeface="Inter"/>
                <a:ea typeface="Inter"/>
                <a:cs typeface="Inter"/>
                <a:sym typeface="Inter"/>
              </a:rPr>
              <a:t>IS01082922</a:t>
            </a:r>
          </a:p>
        </p:txBody>
      </p:sp>
      <p:sp>
        <p:nvSpPr>
          <p:cNvPr id="10" name="TextBox 10"/>
          <p:cNvSpPr txBox="1"/>
          <p:nvPr/>
        </p:nvSpPr>
        <p:spPr>
          <a:xfrm>
            <a:off x="6124745" y="8258841"/>
            <a:ext cx="2746653"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Emier Imran</a:t>
            </a:r>
          </a:p>
        </p:txBody>
      </p:sp>
      <p:sp>
        <p:nvSpPr>
          <p:cNvPr id="11" name="TextBox 11"/>
          <p:cNvSpPr txBox="1"/>
          <p:nvPr/>
        </p:nvSpPr>
        <p:spPr>
          <a:xfrm>
            <a:off x="9887896" y="8255812"/>
            <a:ext cx="2594065"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SN01083227</a:t>
            </a:r>
          </a:p>
        </p:txBody>
      </p:sp>
      <p:sp>
        <p:nvSpPr>
          <p:cNvPr id="12" name="TextBox 12"/>
          <p:cNvSpPr txBox="1"/>
          <p:nvPr/>
        </p:nvSpPr>
        <p:spPr>
          <a:xfrm>
            <a:off x="9994100" y="8871909"/>
            <a:ext cx="2286744"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IS01082956</a:t>
            </a:r>
          </a:p>
        </p:txBody>
      </p:sp>
      <p:sp>
        <p:nvSpPr>
          <p:cNvPr id="13" name="TextBox 13"/>
          <p:cNvSpPr txBox="1"/>
          <p:nvPr/>
        </p:nvSpPr>
        <p:spPr>
          <a:xfrm>
            <a:off x="6096171" y="8877966"/>
            <a:ext cx="3247854" cy="494431"/>
          </a:xfrm>
          <a:prstGeom prst="rect">
            <a:avLst/>
          </a:prstGeom>
        </p:spPr>
        <p:txBody>
          <a:bodyPr wrap="square" lIns="0" tIns="0" rIns="0" bIns="0" rtlCol="0" anchor="t">
            <a:spAutoFit/>
          </a:bodyPr>
          <a:lstStyle/>
          <a:p>
            <a:pPr algn="ctr">
              <a:lnSpc>
                <a:spcPts val="4200"/>
              </a:lnSpc>
            </a:pPr>
            <a:r>
              <a:rPr lang="en-US" sz="3000" dirty="0" err="1">
                <a:solidFill>
                  <a:srgbClr val="FFFFFF"/>
                </a:solidFill>
                <a:latin typeface="Inter"/>
                <a:ea typeface="Inter"/>
                <a:cs typeface="Inter"/>
                <a:sym typeface="Inter"/>
              </a:rPr>
              <a:t>Athysya</a:t>
            </a:r>
            <a:r>
              <a:rPr lang="en-US" sz="3000" dirty="0">
                <a:solidFill>
                  <a:srgbClr val="FFFFFF"/>
                </a:solidFill>
                <a:latin typeface="Inter"/>
                <a:ea typeface="Inter"/>
                <a:cs typeface="Inter"/>
                <a:sym typeface="Inter"/>
              </a:rPr>
              <a:t> Roslan</a:t>
            </a:r>
          </a:p>
        </p:txBody>
      </p:sp>
      <p:sp>
        <p:nvSpPr>
          <p:cNvPr id="14" name="TextBox 14"/>
          <p:cNvSpPr txBox="1"/>
          <p:nvPr/>
        </p:nvSpPr>
        <p:spPr>
          <a:xfrm>
            <a:off x="6124746" y="6405837"/>
            <a:ext cx="3247854"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Aisyah </a:t>
            </a:r>
            <a:r>
              <a:rPr lang="en-US" sz="3000" dirty="0" err="1">
                <a:solidFill>
                  <a:srgbClr val="FFFFFF"/>
                </a:solidFill>
                <a:latin typeface="Inter"/>
                <a:ea typeface="Inter"/>
                <a:cs typeface="Inter"/>
                <a:sym typeface="Inter"/>
              </a:rPr>
              <a:t>Azreena</a:t>
            </a:r>
            <a:endParaRPr lang="en-US" sz="3000" dirty="0">
              <a:solidFill>
                <a:srgbClr val="FFFFFF"/>
              </a:solidFill>
              <a:latin typeface="Inter"/>
              <a:ea typeface="Inter"/>
              <a:cs typeface="Inter"/>
              <a:sym typeface="Inter"/>
            </a:endParaRPr>
          </a:p>
        </p:txBody>
      </p:sp>
      <p:sp>
        <p:nvSpPr>
          <p:cNvPr id="15" name="TextBox 15"/>
          <p:cNvSpPr txBox="1"/>
          <p:nvPr/>
        </p:nvSpPr>
        <p:spPr>
          <a:xfrm>
            <a:off x="6124746" y="7021934"/>
            <a:ext cx="3247854"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Nurul Atiqah</a:t>
            </a:r>
          </a:p>
        </p:txBody>
      </p:sp>
      <p:sp>
        <p:nvSpPr>
          <p:cNvPr id="16" name="TextBox 16"/>
          <p:cNvSpPr txBox="1"/>
          <p:nvPr/>
        </p:nvSpPr>
        <p:spPr>
          <a:xfrm>
            <a:off x="6124746" y="7639716"/>
            <a:ext cx="2943054" cy="494431"/>
          </a:xfrm>
          <a:prstGeom prst="rect">
            <a:avLst/>
          </a:prstGeom>
        </p:spPr>
        <p:txBody>
          <a:bodyPr wrap="square" lIns="0" tIns="0" rIns="0" bIns="0" rtlCol="0" anchor="t">
            <a:spAutoFit/>
          </a:bodyPr>
          <a:lstStyle/>
          <a:p>
            <a:pPr algn="ctr">
              <a:lnSpc>
                <a:spcPts val="4200"/>
              </a:lnSpc>
            </a:pPr>
            <a:r>
              <a:rPr lang="en-US" sz="3000" dirty="0">
                <a:solidFill>
                  <a:srgbClr val="FFFFFF"/>
                </a:solidFill>
                <a:latin typeface="Inter"/>
                <a:ea typeface="Inter"/>
                <a:cs typeface="Inter"/>
                <a:sym typeface="Inter"/>
              </a:rPr>
              <a:t>Nur </a:t>
            </a:r>
            <a:r>
              <a:rPr lang="en-US" sz="3000" dirty="0" err="1">
                <a:solidFill>
                  <a:srgbClr val="FFFFFF"/>
                </a:solidFill>
                <a:latin typeface="Inter"/>
                <a:ea typeface="Inter"/>
                <a:cs typeface="Inter"/>
                <a:sym typeface="Inter"/>
              </a:rPr>
              <a:t>Syakila</a:t>
            </a:r>
            <a:endParaRPr lang="en-US" sz="3000" dirty="0">
              <a:solidFill>
                <a:srgbClr val="FFFFFF"/>
              </a:solidFill>
              <a:latin typeface="Inter"/>
              <a:ea typeface="Inter"/>
              <a:cs typeface="Inter"/>
              <a:sym typeface="Inter"/>
            </a:endParaRPr>
          </a:p>
        </p:txBody>
      </p:sp>
      <p:sp>
        <p:nvSpPr>
          <p:cNvPr id="17" name="TextBox 17"/>
          <p:cNvSpPr txBox="1"/>
          <p:nvPr/>
        </p:nvSpPr>
        <p:spPr>
          <a:xfrm>
            <a:off x="15565038" y="708373"/>
            <a:ext cx="1694262" cy="257175"/>
          </a:xfrm>
          <a:prstGeom prst="rect">
            <a:avLst/>
          </a:prstGeom>
        </p:spPr>
        <p:txBody>
          <a:bodyPr lIns="0" tIns="0" rIns="0" bIns="0" rtlCol="0" anchor="t">
            <a:spAutoFit/>
          </a:bodyPr>
          <a:lstStyle/>
          <a:p>
            <a:pPr algn="just">
              <a:lnSpc>
                <a:spcPts val="2045"/>
              </a:lnSpc>
            </a:pPr>
            <a:r>
              <a:rPr lang="en-US" sz="1704">
                <a:solidFill>
                  <a:srgbClr val="FFFFFF"/>
                </a:solidFill>
                <a:latin typeface="Helvetica World"/>
                <a:ea typeface="Helvetica World"/>
                <a:cs typeface="Helvetica World"/>
                <a:sym typeface="Helvetica World"/>
              </a:rPr>
              <a:t>OSCAR GROUP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a:off x="-1891638" y="3425794"/>
            <a:ext cx="13983053"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AutoShape 3"/>
          <p:cNvSpPr/>
          <p:nvPr/>
        </p:nvSpPr>
        <p:spPr>
          <a:xfrm>
            <a:off x="-152433" y="1129903"/>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4" name="Freeform 4"/>
          <p:cNvSpPr/>
          <p:nvPr/>
        </p:nvSpPr>
        <p:spPr>
          <a:xfrm>
            <a:off x="-3150336" y="-1420431"/>
            <a:ext cx="8250226" cy="8229600"/>
          </a:xfrm>
          <a:custGeom>
            <a:avLst/>
            <a:gdLst/>
            <a:ahLst/>
            <a:cxnLst/>
            <a:rect l="l" t="t" r="r" b="b"/>
            <a:pathLst>
              <a:path w="8250226" h="8229600">
                <a:moveTo>
                  <a:pt x="0" y="0"/>
                </a:moveTo>
                <a:lnTo>
                  <a:pt x="8250225" y="0"/>
                </a:lnTo>
                <a:lnTo>
                  <a:pt x="8250225" y="8229600"/>
                </a:lnTo>
                <a:lnTo>
                  <a:pt x="0" y="8229600"/>
                </a:lnTo>
                <a:lnTo>
                  <a:pt x="0" y="0"/>
                </a:lnTo>
                <a:close/>
              </a:path>
            </a:pathLst>
          </a:custGeom>
          <a:blipFill>
            <a:blip r:embed="rId2"/>
            <a:stretch>
              <a:fillRect/>
            </a:stretch>
          </a:blipFill>
        </p:spPr>
        <p:txBody>
          <a:bodyPr/>
          <a:lstStyle/>
          <a:p>
            <a:endParaRPr lang="en-MY"/>
          </a:p>
        </p:txBody>
      </p:sp>
      <p:sp>
        <p:nvSpPr>
          <p:cNvPr id="5" name="Freeform 5"/>
          <p:cNvSpPr/>
          <p:nvPr/>
        </p:nvSpPr>
        <p:spPr>
          <a:xfrm>
            <a:off x="1028700" y="3421031"/>
            <a:ext cx="16230600" cy="6776276"/>
          </a:xfrm>
          <a:custGeom>
            <a:avLst/>
            <a:gdLst/>
            <a:ahLst/>
            <a:cxnLst/>
            <a:rect l="l" t="t" r="r" b="b"/>
            <a:pathLst>
              <a:path w="16230600" h="6776276">
                <a:moveTo>
                  <a:pt x="0" y="0"/>
                </a:moveTo>
                <a:lnTo>
                  <a:pt x="16230600" y="0"/>
                </a:lnTo>
                <a:lnTo>
                  <a:pt x="16230600" y="6776276"/>
                </a:lnTo>
                <a:lnTo>
                  <a:pt x="0" y="6776276"/>
                </a:lnTo>
                <a:lnTo>
                  <a:pt x="0" y="0"/>
                </a:lnTo>
                <a:close/>
              </a:path>
            </a:pathLst>
          </a:custGeom>
          <a:blipFill>
            <a:blip r:embed="rId3"/>
            <a:stretch>
              <a:fillRect/>
            </a:stretch>
          </a:blipFill>
        </p:spPr>
        <p:txBody>
          <a:bodyPr/>
          <a:lstStyle/>
          <a:p>
            <a:endParaRPr lang="en-MY"/>
          </a:p>
        </p:txBody>
      </p:sp>
      <p:sp>
        <p:nvSpPr>
          <p:cNvPr id="6" name="TextBox 6"/>
          <p:cNvSpPr txBox="1"/>
          <p:nvPr/>
        </p:nvSpPr>
        <p:spPr>
          <a:xfrm>
            <a:off x="1608551" y="2150492"/>
            <a:ext cx="10634946" cy="1373504"/>
          </a:xfrm>
          <a:prstGeom prst="rect">
            <a:avLst/>
          </a:prstGeom>
        </p:spPr>
        <p:txBody>
          <a:bodyPr lIns="0" tIns="0" rIns="0" bIns="0" rtlCol="0" anchor="t">
            <a:spAutoFit/>
          </a:bodyPr>
          <a:lstStyle/>
          <a:p>
            <a:pPr algn="l">
              <a:lnSpc>
                <a:spcPts val="8999"/>
              </a:lnSpc>
            </a:pPr>
            <a:r>
              <a:rPr lang="en-US" sz="9999" b="1" spc="-299">
                <a:solidFill>
                  <a:srgbClr val="172427"/>
                </a:solidFill>
                <a:latin typeface="Helvetica World Bold"/>
                <a:ea typeface="Helvetica World Bold"/>
                <a:cs typeface="Helvetica World Bold"/>
                <a:sym typeface="Helvetica World Bold"/>
              </a:rPr>
              <a:t>PROJECT SCOPE</a:t>
            </a:r>
          </a:p>
        </p:txBody>
      </p:sp>
      <p:sp>
        <p:nvSpPr>
          <p:cNvPr id="7" name="TextBox 7"/>
          <p:cNvSpPr txBox="1"/>
          <p:nvPr/>
        </p:nvSpPr>
        <p:spPr>
          <a:xfrm>
            <a:off x="1028700" y="714375"/>
            <a:ext cx="4071189" cy="257175"/>
          </a:xfrm>
          <a:prstGeom prst="rect">
            <a:avLst/>
          </a:prstGeom>
        </p:spPr>
        <p:txBody>
          <a:bodyPr lIns="0" tIns="0" rIns="0" bIns="0" rtlCol="0" anchor="t">
            <a:spAutoFit/>
          </a:bodyPr>
          <a:lstStyle/>
          <a:p>
            <a:pPr marL="0" lvl="0" indent="0" algn="l">
              <a:lnSpc>
                <a:spcPts val="2040"/>
              </a:lnSpc>
            </a:pPr>
            <a:r>
              <a:rPr lang="en-US" sz="1700">
                <a:solidFill>
                  <a:srgbClr val="000000"/>
                </a:solidFill>
                <a:latin typeface="Helvetica World"/>
                <a:ea typeface="Helvetica World"/>
                <a:cs typeface="Helvetica World"/>
                <a:sym typeface="Helvetica World"/>
              </a:rPr>
              <a:t>CISB5123 TEXT ANALYTICS</a:t>
            </a:r>
          </a:p>
        </p:txBody>
      </p:sp>
      <p:grpSp>
        <p:nvGrpSpPr>
          <p:cNvPr id="8" name="Group 8"/>
          <p:cNvGrpSpPr/>
          <p:nvPr/>
        </p:nvGrpSpPr>
        <p:grpSpPr>
          <a:xfrm>
            <a:off x="642349" y="4080721"/>
            <a:ext cx="3758071" cy="5119595"/>
            <a:chOff x="0" y="0"/>
            <a:chExt cx="989780" cy="1348371"/>
          </a:xfrm>
        </p:grpSpPr>
        <p:sp>
          <p:nvSpPr>
            <p:cNvPr id="9" name="Freeform 9"/>
            <p:cNvSpPr/>
            <p:nvPr/>
          </p:nvSpPr>
          <p:spPr>
            <a:xfrm>
              <a:off x="0" y="0"/>
              <a:ext cx="989780" cy="1348371"/>
            </a:xfrm>
            <a:custGeom>
              <a:avLst/>
              <a:gdLst/>
              <a:ahLst/>
              <a:cxnLst/>
              <a:rect l="l" t="t" r="r" b="b"/>
              <a:pathLst>
                <a:path w="989780" h="1348371">
                  <a:moveTo>
                    <a:pt x="105064" y="0"/>
                  </a:moveTo>
                  <a:lnTo>
                    <a:pt x="884716" y="0"/>
                  </a:lnTo>
                  <a:cubicBezTo>
                    <a:pt x="942741" y="0"/>
                    <a:pt x="989780" y="47039"/>
                    <a:pt x="989780" y="105064"/>
                  </a:cubicBezTo>
                  <a:lnTo>
                    <a:pt x="989780" y="1243307"/>
                  </a:lnTo>
                  <a:cubicBezTo>
                    <a:pt x="989780" y="1271172"/>
                    <a:pt x="978711" y="1297895"/>
                    <a:pt x="959007" y="1317598"/>
                  </a:cubicBezTo>
                  <a:cubicBezTo>
                    <a:pt x="939304" y="1337302"/>
                    <a:pt x="912581" y="1348371"/>
                    <a:pt x="884716" y="1348371"/>
                  </a:cubicBezTo>
                  <a:lnTo>
                    <a:pt x="105064" y="1348371"/>
                  </a:lnTo>
                  <a:cubicBezTo>
                    <a:pt x="77199" y="1348371"/>
                    <a:pt x="50476" y="1337302"/>
                    <a:pt x="30773" y="1317598"/>
                  </a:cubicBezTo>
                  <a:cubicBezTo>
                    <a:pt x="11069" y="1297895"/>
                    <a:pt x="0" y="1271172"/>
                    <a:pt x="0" y="1243307"/>
                  </a:cubicBezTo>
                  <a:lnTo>
                    <a:pt x="0" y="105064"/>
                  </a:lnTo>
                  <a:cubicBezTo>
                    <a:pt x="0" y="77199"/>
                    <a:pt x="11069" y="50476"/>
                    <a:pt x="30773" y="30773"/>
                  </a:cubicBezTo>
                  <a:cubicBezTo>
                    <a:pt x="50476" y="11069"/>
                    <a:pt x="77199" y="0"/>
                    <a:pt x="105064" y="0"/>
                  </a:cubicBezTo>
                  <a:close/>
                </a:path>
              </a:pathLst>
            </a:custGeom>
            <a:solidFill>
              <a:srgbClr val="182427">
                <a:alpha val="50980"/>
              </a:srgbClr>
            </a:solidFill>
          </p:spPr>
          <p:txBody>
            <a:bodyPr/>
            <a:lstStyle/>
            <a:p>
              <a:endParaRPr lang="en-MY"/>
            </a:p>
          </p:txBody>
        </p:sp>
        <p:sp>
          <p:nvSpPr>
            <p:cNvPr id="10" name="TextBox 10"/>
            <p:cNvSpPr txBox="1"/>
            <p:nvPr/>
          </p:nvSpPr>
          <p:spPr>
            <a:xfrm>
              <a:off x="0" y="0"/>
              <a:ext cx="989780" cy="1348371"/>
            </a:xfrm>
            <a:prstGeom prst="rect">
              <a:avLst/>
            </a:prstGeom>
          </p:spPr>
          <p:txBody>
            <a:bodyPr lIns="50800" tIns="50800" rIns="50800" bIns="50800" rtlCol="0" anchor="ctr"/>
            <a:lstStyle/>
            <a:p>
              <a:pPr algn="ctr">
                <a:lnSpc>
                  <a:spcPts val="2040"/>
                </a:lnSpc>
              </a:pPr>
              <a:endParaRPr/>
            </a:p>
          </p:txBody>
        </p:sp>
      </p:grpSp>
      <p:sp>
        <p:nvSpPr>
          <p:cNvPr id="11" name="TextBox 11"/>
          <p:cNvSpPr txBox="1"/>
          <p:nvPr/>
        </p:nvSpPr>
        <p:spPr>
          <a:xfrm>
            <a:off x="798908" y="4209796"/>
            <a:ext cx="3444952" cy="422275"/>
          </a:xfrm>
          <a:prstGeom prst="rect">
            <a:avLst/>
          </a:prstGeom>
        </p:spPr>
        <p:txBody>
          <a:bodyPr lIns="0" tIns="0" rIns="0" bIns="0" rtlCol="0" anchor="t">
            <a:spAutoFit/>
          </a:bodyPr>
          <a:lstStyle/>
          <a:p>
            <a:pPr algn="ctr">
              <a:lnSpc>
                <a:spcPts val="3499"/>
              </a:lnSpc>
            </a:pPr>
            <a:r>
              <a:rPr lang="en-US" sz="2499" b="1">
                <a:solidFill>
                  <a:srgbClr val="FFFFFF"/>
                </a:solidFill>
                <a:latin typeface="Glacial Indifference Bold"/>
                <a:ea typeface="Glacial Indifference Bold"/>
                <a:cs typeface="Glacial Indifference Bold"/>
                <a:sym typeface="Glacial Indifference Bold"/>
              </a:rPr>
              <a:t>Problem Statement :</a:t>
            </a:r>
          </a:p>
        </p:txBody>
      </p:sp>
      <p:sp>
        <p:nvSpPr>
          <p:cNvPr id="12" name="TextBox 12"/>
          <p:cNvSpPr txBox="1"/>
          <p:nvPr/>
        </p:nvSpPr>
        <p:spPr>
          <a:xfrm>
            <a:off x="920760" y="4947814"/>
            <a:ext cx="3201249" cy="3674792"/>
          </a:xfrm>
          <a:prstGeom prst="rect">
            <a:avLst/>
          </a:prstGeom>
        </p:spPr>
        <p:txBody>
          <a:bodyPr lIns="0" tIns="0" rIns="0" bIns="0" rtlCol="0" anchor="t">
            <a:spAutoFit/>
          </a:bodyPr>
          <a:lstStyle/>
          <a:p>
            <a:pPr algn="just">
              <a:lnSpc>
                <a:spcPts val="3252"/>
              </a:lnSpc>
            </a:pPr>
            <a:r>
              <a:rPr lang="en-US" sz="2323">
                <a:solidFill>
                  <a:srgbClr val="FFFFFF"/>
                </a:solidFill>
                <a:latin typeface="Canva Sans"/>
                <a:ea typeface="Canva Sans"/>
                <a:cs typeface="Canva Sans"/>
                <a:sym typeface="Canva Sans"/>
              </a:rPr>
              <a:t>to understand public sentiment toward Oscar-winning movies the last decade. This could help identify patterns in how critically acclaimed movies are received by general audiences.</a:t>
            </a:r>
          </a:p>
        </p:txBody>
      </p:sp>
      <p:grpSp>
        <p:nvGrpSpPr>
          <p:cNvPr id="13" name="Group 13"/>
          <p:cNvGrpSpPr/>
          <p:nvPr/>
        </p:nvGrpSpPr>
        <p:grpSpPr>
          <a:xfrm>
            <a:off x="5099889" y="4080721"/>
            <a:ext cx="3758071" cy="5119595"/>
            <a:chOff x="0" y="0"/>
            <a:chExt cx="989780" cy="1348371"/>
          </a:xfrm>
        </p:grpSpPr>
        <p:sp>
          <p:nvSpPr>
            <p:cNvPr id="14" name="Freeform 14"/>
            <p:cNvSpPr/>
            <p:nvPr/>
          </p:nvSpPr>
          <p:spPr>
            <a:xfrm>
              <a:off x="0" y="0"/>
              <a:ext cx="989780" cy="1348371"/>
            </a:xfrm>
            <a:custGeom>
              <a:avLst/>
              <a:gdLst/>
              <a:ahLst/>
              <a:cxnLst/>
              <a:rect l="l" t="t" r="r" b="b"/>
              <a:pathLst>
                <a:path w="989780" h="1348371">
                  <a:moveTo>
                    <a:pt x="105064" y="0"/>
                  </a:moveTo>
                  <a:lnTo>
                    <a:pt x="884716" y="0"/>
                  </a:lnTo>
                  <a:cubicBezTo>
                    <a:pt x="942741" y="0"/>
                    <a:pt x="989780" y="47039"/>
                    <a:pt x="989780" y="105064"/>
                  </a:cubicBezTo>
                  <a:lnTo>
                    <a:pt x="989780" y="1243307"/>
                  </a:lnTo>
                  <a:cubicBezTo>
                    <a:pt x="989780" y="1271172"/>
                    <a:pt x="978711" y="1297895"/>
                    <a:pt x="959007" y="1317598"/>
                  </a:cubicBezTo>
                  <a:cubicBezTo>
                    <a:pt x="939304" y="1337302"/>
                    <a:pt x="912581" y="1348371"/>
                    <a:pt x="884716" y="1348371"/>
                  </a:cubicBezTo>
                  <a:lnTo>
                    <a:pt x="105064" y="1348371"/>
                  </a:lnTo>
                  <a:cubicBezTo>
                    <a:pt x="77199" y="1348371"/>
                    <a:pt x="50476" y="1337302"/>
                    <a:pt x="30773" y="1317598"/>
                  </a:cubicBezTo>
                  <a:cubicBezTo>
                    <a:pt x="11069" y="1297895"/>
                    <a:pt x="0" y="1271172"/>
                    <a:pt x="0" y="1243307"/>
                  </a:cubicBezTo>
                  <a:lnTo>
                    <a:pt x="0" y="105064"/>
                  </a:lnTo>
                  <a:cubicBezTo>
                    <a:pt x="0" y="77199"/>
                    <a:pt x="11069" y="50476"/>
                    <a:pt x="30773" y="30773"/>
                  </a:cubicBezTo>
                  <a:cubicBezTo>
                    <a:pt x="50476" y="11069"/>
                    <a:pt x="77199" y="0"/>
                    <a:pt x="105064" y="0"/>
                  </a:cubicBezTo>
                  <a:close/>
                </a:path>
              </a:pathLst>
            </a:custGeom>
            <a:solidFill>
              <a:srgbClr val="182427">
                <a:alpha val="50980"/>
              </a:srgbClr>
            </a:solidFill>
          </p:spPr>
          <p:txBody>
            <a:bodyPr/>
            <a:lstStyle/>
            <a:p>
              <a:endParaRPr lang="en-MY"/>
            </a:p>
          </p:txBody>
        </p:sp>
        <p:sp>
          <p:nvSpPr>
            <p:cNvPr id="15" name="TextBox 15"/>
            <p:cNvSpPr txBox="1"/>
            <p:nvPr/>
          </p:nvSpPr>
          <p:spPr>
            <a:xfrm>
              <a:off x="0" y="0"/>
              <a:ext cx="989780" cy="1348371"/>
            </a:xfrm>
            <a:prstGeom prst="rect">
              <a:avLst/>
            </a:prstGeom>
          </p:spPr>
          <p:txBody>
            <a:bodyPr lIns="50800" tIns="50800" rIns="50800" bIns="50800" rtlCol="0" anchor="ctr"/>
            <a:lstStyle/>
            <a:p>
              <a:pPr algn="ctr">
                <a:lnSpc>
                  <a:spcPts val="2040"/>
                </a:lnSpc>
              </a:pPr>
              <a:endParaRPr/>
            </a:p>
          </p:txBody>
        </p:sp>
      </p:grpSp>
      <p:sp>
        <p:nvSpPr>
          <p:cNvPr id="16" name="TextBox 16"/>
          <p:cNvSpPr txBox="1"/>
          <p:nvPr/>
        </p:nvSpPr>
        <p:spPr>
          <a:xfrm>
            <a:off x="5256448" y="4209796"/>
            <a:ext cx="3444952" cy="422275"/>
          </a:xfrm>
          <a:prstGeom prst="rect">
            <a:avLst/>
          </a:prstGeom>
        </p:spPr>
        <p:txBody>
          <a:bodyPr lIns="0" tIns="0" rIns="0" bIns="0" rtlCol="0" anchor="t">
            <a:spAutoFit/>
          </a:bodyPr>
          <a:lstStyle/>
          <a:p>
            <a:pPr algn="ctr">
              <a:lnSpc>
                <a:spcPts val="3499"/>
              </a:lnSpc>
            </a:pPr>
            <a:r>
              <a:rPr lang="en-US" sz="2499" b="1">
                <a:solidFill>
                  <a:srgbClr val="FFFFFF"/>
                </a:solidFill>
                <a:latin typeface="Glacial Indifference Bold"/>
                <a:ea typeface="Glacial Indifference Bold"/>
                <a:cs typeface="Glacial Indifference Bold"/>
                <a:sym typeface="Glacial Indifference Bold"/>
              </a:rPr>
              <a:t>Insights :</a:t>
            </a:r>
          </a:p>
        </p:txBody>
      </p:sp>
      <p:sp>
        <p:nvSpPr>
          <p:cNvPr id="17" name="TextBox 17"/>
          <p:cNvSpPr txBox="1"/>
          <p:nvPr/>
        </p:nvSpPr>
        <p:spPr>
          <a:xfrm>
            <a:off x="5218348" y="4948107"/>
            <a:ext cx="3241091" cy="3674499"/>
          </a:xfrm>
          <a:prstGeom prst="rect">
            <a:avLst/>
          </a:prstGeom>
        </p:spPr>
        <p:txBody>
          <a:bodyPr lIns="0" tIns="0" rIns="0" bIns="0" rtlCol="0" anchor="t">
            <a:spAutoFit/>
          </a:bodyPr>
          <a:lstStyle/>
          <a:p>
            <a:pPr marL="504058" lvl="1" indent="-252029" algn="just">
              <a:lnSpc>
                <a:spcPts val="3268"/>
              </a:lnSpc>
              <a:buFont typeface="Arial"/>
              <a:buChar char="•"/>
            </a:pPr>
            <a:r>
              <a:rPr lang="en-US" sz="2334">
                <a:solidFill>
                  <a:srgbClr val="FFFFFF"/>
                </a:solidFill>
                <a:latin typeface="Canva Sans"/>
                <a:ea typeface="Canva Sans"/>
                <a:cs typeface="Canva Sans"/>
                <a:sym typeface="Canva Sans"/>
              </a:rPr>
              <a:t>Sentiment polarity for each movie</a:t>
            </a:r>
          </a:p>
          <a:p>
            <a:pPr marL="504058" lvl="1" indent="-252029" algn="just">
              <a:lnSpc>
                <a:spcPts val="3268"/>
              </a:lnSpc>
              <a:buFont typeface="Arial"/>
              <a:buChar char="•"/>
            </a:pPr>
            <a:r>
              <a:rPr lang="en-US" sz="2334">
                <a:solidFill>
                  <a:srgbClr val="FFFFFF"/>
                </a:solidFill>
                <a:latin typeface="Canva Sans"/>
                <a:ea typeface="Canva Sans"/>
                <a:cs typeface="Canva Sans"/>
                <a:sym typeface="Canva Sans"/>
              </a:rPr>
              <a:t>Compare sentiment trends across years</a:t>
            </a:r>
          </a:p>
          <a:p>
            <a:pPr marL="504058" lvl="1" indent="-252029" algn="just">
              <a:lnSpc>
                <a:spcPts val="3268"/>
              </a:lnSpc>
              <a:buFont typeface="Arial"/>
              <a:buChar char="•"/>
            </a:pPr>
            <a:r>
              <a:rPr lang="en-US" sz="2334">
                <a:solidFill>
                  <a:srgbClr val="FFFFFF"/>
                </a:solidFill>
                <a:latin typeface="Canva Sans"/>
                <a:ea typeface="Canva Sans"/>
                <a:cs typeface="Canva Sans"/>
                <a:sym typeface="Canva Sans"/>
              </a:rPr>
              <a:t>Spot sentiment shifts between critics and public review</a:t>
            </a:r>
          </a:p>
        </p:txBody>
      </p:sp>
      <p:grpSp>
        <p:nvGrpSpPr>
          <p:cNvPr id="18" name="Group 18"/>
          <p:cNvGrpSpPr/>
          <p:nvPr/>
        </p:nvGrpSpPr>
        <p:grpSpPr>
          <a:xfrm>
            <a:off x="9553285" y="4080721"/>
            <a:ext cx="3758071" cy="5119595"/>
            <a:chOff x="0" y="0"/>
            <a:chExt cx="989780" cy="1348371"/>
          </a:xfrm>
        </p:grpSpPr>
        <p:sp>
          <p:nvSpPr>
            <p:cNvPr id="19" name="Freeform 19"/>
            <p:cNvSpPr/>
            <p:nvPr/>
          </p:nvSpPr>
          <p:spPr>
            <a:xfrm>
              <a:off x="0" y="0"/>
              <a:ext cx="989780" cy="1348371"/>
            </a:xfrm>
            <a:custGeom>
              <a:avLst/>
              <a:gdLst/>
              <a:ahLst/>
              <a:cxnLst/>
              <a:rect l="l" t="t" r="r" b="b"/>
              <a:pathLst>
                <a:path w="989780" h="1348371">
                  <a:moveTo>
                    <a:pt x="105064" y="0"/>
                  </a:moveTo>
                  <a:lnTo>
                    <a:pt x="884716" y="0"/>
                  </a:lnTo>
                  <a:cubicBezTo>
                    <a:pt x="942741" y="0"/>
                    <a:pt x="989780" y="47039"/>
                    <a:pt x="989780" y="105064"/>
                  </a:cubicBezTo>
                  <a:lnTo>
                    <a:pt x="989780" y="1243307"/>
                  </a:lnTo>
                  <a:cubicBezTo>
                    <a:pt x="989780" y="1271172"/>
                    <a:pt x="978711" y="1297895"/>
                    <a:pt x="959007" y="1317598"/>
                  </a:cubicBezTo>
                  <a:cubicBezTo>
                    <a:pt x="939304" y="1337302"/>
                    <a:pt x="912581" y="1348371"/>
                    <a:pt x="884716" y="1348371"/>
                  </a:cubicBezTo>
                  <a:lnTo>
                    <a:pt x="105064" y="1348371"/>
                  </a:lnTo>
                  <a:cubicBezTo>
                    <a:pt x="77199" y="1348371"/>
                    <a:pt x="50476" y="1337302"/>
                    <a:pt x="30773" y="1317598"/>
                  </a:cubicBezTo>
                  <a:cubicBezTo>
                    <a:pt x="11069" y="1297895"/>
                    <a:pt x="0" y="1271172"/>
                    <a:pt x="0" y="1243307"/>
                  </a:cubicBezTo>
                  <a:lnTo>
                    <a:pt x="0" y="105064"/>
                  </a:lnTo>
                  <a:cubicBezTo>
                    <a:pt x="0" y="77199"/>
                    <a:pt x="11069" y="50476"/>
                    <a:pt x="30773" y="30773"/>
                  </a:cubicBezTo>
                  <a:cubicBezTo>
                    <a:pt x="50476" y="11069"/>
                    <a:pt x="77199" y="0"/>
                    <a:pt x="105064" y="0"/>
                  </a:cubicBezTo>
                  <a:close/>
                </a:path>
              </a:pathLst>
            </a:custGeom>
            <a:solidFill>
              <a:srgbClr val="182427">
                <a:alpha val="50980"/>
              </a:srgbClr>
            </a:solidFill>
          </p:spPr>
          <p:txBody>
            <a:bodyPr/>
            <a:lstStyle/>
            <a:p>
              <a:endParaRPr lang="en-MY"/>
            </a:p>
          </p:txBody>
        </p:sp>
        <p:sp>
          <p:nvSpPr>
            <p:cNvPr id="20" name="TextBox 20"/>
            <p:cNvSpPr txBox="1"/>
            <p:nvPr/>
          </p:nvSpPr>
          <p:spPr>
            <a:xfrm>
              <a:off x="0" y="0"/>
              <a:ext cx="989780" cy="1348371"/>
            </a:xfrm>
            <a:prstGeom prst="rect">
              <a:avLst/>
            </a:prstGeom>
          </p:spPr>
          <p:txBody>
            <a:bodyPr lIns="50800" tIns="50800" rIns="50800" bIns="50800" rtlCol="0" anchor="ctr"/>
            <a:lstStyle/>
            <a:p>
              <a:pPr algn="ctr">
                <a:lnSpc>
                  <a:spcPts val="2040"/>
                </a:lnSpc>
              </a:pPr>
              <a:endParaRPr/>
            </a:p>
          </p:txBody>
        </p:sp>
      </p:grpSp>
      <p:sp>
        <p:nvSpPr>
          <p:cNvPr id="21" name="TextBox 21"/>
          <p:cNvSpPr txBox="1"/>
          <p:nvPr/>
        </p:nvSpPr>
        <p:spPr>
          <a:xfrm>
            <a:off x="9709844" y="4209796"/>
            <a:ext cx="3444952" cy="422275"/>
          </a:xfrm>
          <a:prstGeom prst="rect">
            <a:avLst/>
          </a:prstGeom>
        </p:spPr>
        <p:txBody>
          <a:bodyPr lIns="0" tIns="0" rIns="0" bIns="0" rtlCol="0" anchor="t">
            <a:spAutoFit/>
          </a:bodyPr>
          <a:lstStyle/>
          <a:p>
            <a:pPr algn="ctr">
              <a:lnSpc>
                <a:spcPts val="3499"/>
              </a:lnSpc>
            </a:pPr>
            <a:r>
              <a:rPr lang="en-US" sz="2499" b="1">
                <a:solidFill>
                  <a:srgbClr val="FFFFFF"/>
                </a:solidFill>
                <a:latin typeface="Glacial Indifference Bold"/>
                <a:ea typeface="Glacial Indifference Bold"/>
                <a:cs typeface="Glacial Indifference Bold"/>
                <a:sym typeface="Glacial Indifference Bold"/>
              </a:rPr>
              <a:t>Data Source :</a:t>
            </a:r>
          </a:p>
        </p:txBody>
      </p:sp>
      <p:sp>
        <p:nvSpPr>
          <p:cNvPr id="22" name="TextBox 22"/>
          <p:cNvSpPr txBox="1"/>
          <p:nvPr/>
        </p:nvSpPr>
        <p:spPr>
          <a:xfrm>
            <a:off x="11027869" y="6417609"/>
            <a:ext cx="808902" cy="398192"/>
          </a:xfrm>
          <a:prstGeom prst="rect">
            <a:avLst/>
          </a:prstGeom>
        </p:spPr>
        <p:txBody>
          <a:bodyPr lIns="0" tIns="0" rIns="0" bIns="0" rtlCol="0" anchor="t">
            <a:spAutoFit/>
          </a:bodyPr>
          <a:lstStyle/>
          <a:p>
            <a:pPr algn="just">
              <a:lnSpc>
                <a:spcPts val="3252"/>
              </a:lnSpc>
            </a:pPr>
            <a:r>
              <a:rPr lang="en-US" sz="2323" dirty="0">
                <a:solidFill>
                  <a:srgbClr val="FFFFFF"/>
                </a:solidFill>
                <a:latin typeface="Canva Sans"/>
                <a:ea typeface="Canva Sans"/>
                <a:cs typeface="Canva Sans"/>
                <a:sym typeface="Canva Sans"/>
              </a:rPr>
              <a:t>IMDb </a:t>
            </a:r>
          </a:p>
        </p:txBody>
      </p:sp>
      <p:grpSp>
        <p:nvGrpSpPr>
          <p:cNvPr id="23" name="Group 23"/>
          <p:cNvGrpSpPr/>
          <p:nvPr/>
        </p:nvGrpSpPr>
        <p:grpSpPr>
          <a:xfrm>
            <a:off x="14006680" y="4080721"/>
            <a:ext cx="3758071" cy="5119595"/>
            <a:chOff x="0" y="0"/>
            <a:chExt cx="989780" cy="1348371"/>
          </a:xfrm>
        </p:grpSpPr>
        <p:sp>
          <p:nvSpPr>
            <p:cNvPr id="24" name="Freeform 24"/>
            <p:cNvSpPr/>
            <p:nvPr/>
          </p:nvSpPr>
          <p:spPr>
            <a:xfrm>
              <a:off x="0" y="0"/>
              <a:ext cx="989780" cy="1348371"/>
            </a:xfrm>
            <a:custGeom>
              <a:avLst/>
              <a:gdLst/>
              <a:ahLst/>
              <a:cxnLst/>
              <a:rect l="l" t="t" r="r" b="b"/>
              <a:pathLst>
                <a:path w="989780" h="1348371">
                  <a:moveTo>
                    <a:pt x="105064" y="0"/>
                  </a:moveTo>
                  <a:lnTo>
                    <a:pt x="884716" y="0"/>
                  </a:lnTo>
                  <a:cubicBezTo>
                    <a:pt x="942741" y="0"/>
                    <a:pt x="989780" y="47039"/>
                    <a:pt x="989780" y="105064"/>
                  </a:cubicBezTo>
                  <a:lnTo>
                    <a:pt x="989780" y="1243307"/>
                  </a:lnTo>
                  <a:cubicBezTo>
                    <a:pt x="989780" y="1271172"/>
                    <a:pt x="978711" y="1297895"/>
                    <a:pt x="959007" y="1317598"/>
                  </a:cubicBezTo>
                  <a:cubicBezTo>
                    <a:pt x="939304" y="1337302"/>
                    <a:pt x="912581" y="1348371"/>
                    <a:pt x="884716" y="1348371"/>
                  </a:cubicBezTo>
                  <a:lnTo>
                    <a:pt x="105064" y="1348371"/>
                  </a:lnTo>
                  <a:cubicBezTo>
                    <a:pt x="77199" y="1348371"/>
                    <a:pt x="50476" y="1337302"/>
                    <a:pt x="30773" y="1317598"/>
                  </a:cubicBezTo>
                  <a:cubicBezTo>
                    <a:pt x="11069" y="1297895"/>
                    <a:pt x="0" y="1271172"/>
                    <a:pt x="0" y="1243307"/>
                  </a:cubicBezTo>
                  <a:lnTo>
                    <a:pt x="0" y="105064"/>
                  </a:lnTo>
                  <a:cubicBezTo>
                    <a:pt x="0" y="77199"/>
                    <a:pt x="11069" y="50476"/>
                    <a:pt x="30773" y="30773"/>
                  </a:cubicBezTo>
                  <a:cubicBezTo>
                    <a:pt x="50476" y="11069"/>
                    <a:pt x="77199" y="0"/>
                    <a:pt x="105064" y="0"/>
                  </a:cubicBezTo>
                  <a:close/>
                </a:path>
              </a:pathLst>
            </a:custGeom>
            <a:solidFill>
              <a:srgbClr val="182427">
                <a:alpha val="50980"/>
              </a:srgbClr>
            </a:solidFill>
          </p:spPr>
          <p:txBody>
            <a:bodyPr/>
            <a:lstStyle/>
            <a:p>
              <a:endParaRPr lang="en-MY"/>
            </a:p>
          </p:txBody>
        </p:sp>
        <p:sp>
          <p:nvSpPr>
            <p:cNvPr id="25" name="TextBox 25"/>
            <p:cNvSpPr txBox="1"/>
            <p:nvPr/>
          </p:nvSpPr>
          <p:spPr>
            <a:xfrm>
              <a:off x="0" y="0"/>
              <a:ext cx="989780" cy="1348371"/>
            </a:xfrm>
            <a:prstGeom prst="rect">
              <a:avLst/>
            </a:prstGeom>
          </p:spPr>
          <p:txBody>
            <a:bodyPr lIns="50800" tIns="50800" rIns="50800" bIns="50800" rtlCol="0" anchor="ctr"/>
            <a:lstStyle/>
            <a:p>
              <a:pPr algn="ctr">
                <a:lnSpc>
                  <a:spcPts val="2040"/>
                </a:lnSpc>
              </a:pPr>
              <a:endParaRPr/>
            </a:p>
          </p:txBody>
        </p:sp>
      </p:grpSp>
      <p:sp>
        <p:nvSpPr>
          <p:cNvPr id="26" name="TextBox 26"/>
          <p:cNvSpPr txBox="1"/>
          <p:nvPr/>
        </p:nvSpPr>
        <p:spPr>
          <a:xfrm>
            <a:off x="14168605" y="4209796"/>
            <a:ext cx="3444952" cy="860425"/>
          </a:xfrm>
          <a:prstGeom prst="rect">
            <a:avLst/>
          </a:prstGeom>
        </p:spPr>
        <p:txBody>
          <a:bodyPr lIns="0" tIns="0" rIns="0" bIns="0" rtlCol="0" anchor="t">
            <a:spAutoFit/>
          </a:bodyPr>
          <a:lstStyle/>
          <a:p>
            <a:pPr algn="ctr">
              <a:lnSpc>
                <a:spcPts val="3499"/>
              </a:lnSpc>
            </a:pPr>
            <a:r>
              <a:rPr lang="en-US" sz="2499" b="1">
                <a:solidFill>
                  <a:srgbClr val="FFFFFF"/>
                </a:solidFill>
                <a:latin typeface="Glacial Indifference Bold"/>
                <a:ea typeface="Glacial Indifference Bold"/>
                <a:cs typeface="Glacial Indifference Bold"/>
                <a:sym typeface="Glacial Indifference Bold"/>
              </a:rPr>
              <a:t>Ethical </a:t>
            </a:r>
          </a:p>
          <a:p>
            <a:pPr algn="ctr">
              <a:lnSpc>
                <a:spcPts val="3499"/>
              </a:lnSpc>
            </a:pPr>
            <a:r>
              <a:rPr lang="en-US" sz="2499" b="1">
                <a:solidFill>
                  <a:srgbClr val="FFFFFF"/>
                </a:solidFill>
                <a:latin typeface="Glacial Indifference Bold"/>
                <a:ea typeface="Glacial Indifference Bold"/>
                <a:cs typeface="Glacial Indifference Bold"/>
                <a:sym typeface="Glacial Indifference Bold"/>
              </a:rPr>
              <a:t>Consideration :</a:t>
            </a:r>
          </a:p>
        </p:txBody>
      </p:sp>
      <p:sp>
        <p:nvSpPr>
          <p:cNvPr id="27" name="TextBox 27"/>
          <p:cNvSpPr txBox="1"/>
          <p:nvPr/>
        </p:nvSpPr>
        <p:spPr>
          <a:xfrm>
            <a:off x="14130505" y="5357389"/>
            <a:ext cx="3225173" cy="3265217"/>
          </a:xfrm>
          <a:prstGeom prst="rect">
            <a:avLst/>
          </a:prstGeom>
        </p:spPr>
        <p:txBody>
          <a:bodyPr lIns="0" tIns="0" rIns="0" bIns="0" rtlCol="0" anchor="t">
            <a:spAutoFit/>
          </a:bodyPr>
          <a:lstStyle/>
          <a:p>
            <a:pPr marL="501564" lvl="1" indent="-250782" algn="just">
              <a:lnSpc>
                <a:spcPts val="3252"/>
              </a:lnSpc>
              <a:buFont typeface="Arial"/>
              <a:buChar char="•"/>
            </a:pPr>
            <a:r>
              <a:rPr lang="en-US" sz="2323">
                <a:solidFill>
                  <a:srgbClr val="FFFFFF"/>
                </a:solidFill>
                <a:latin typeface="Canva Sans"/>
                <a:ea typeface="Canva Sans"/>
                <a:cs typeface="Canva Sans"/>
                <a:sym typeface="Canva Sans"/>
              </a:rPr>
              <a:t>public data but still consider user anonymity </a:t>
            </a:r>
          </a:p>
          <a:p>
            <a:pPr marL="501564" lvl="1" indent="-250782" algn="just">
              <a:lnSpc>
                <a:spcPts val="3252"/>
              </a:lnSpc>
              <a:buFont typeface="Arial"/>
              <a:buChar char="•"/>
            </a:pPr>
            <a:r>
              <a:rPr lang="en-US" sz="2323">
                <a:solidFill>
                  <a:srgbClr val="FFFFFF"/>
                </a:solidFill>
                <a:latin typeface="Canva Sans"/>
                <a:ea typeface="Canva Sans"/>
                <a:cs typeface="Canva Sans"/>
                <a:sym typeface="Canva Sans"/>
              </a:rPr>
              <a:t>avoid collecting personally identifiable info </a:t>
            </a:r>
          </a:p>
          <a:p>
            <a:pPr marL="501564" lvl="1" indent="-250782" algn="just">
              <a:lnSpc>
                <a:spcPts val="3252"/>
              </a:lnSpc>
              <a:buFont typeface="Arial"/>
              <a:buChar char="•"/>
            </a:pPr>
            <a:r>
              <a:rPr lang="en-US" sz="2323">
                <a:solidFill>
                  <a:srgbClr val="FFFFFF"/>
                </a:solidFill>
                <a:latin typeface="Canva Sans"/>
                <a:ea typeface="Canva Sans"/>
                <a:cs typeface="Canva Sans"/>
                <a:sym typeface="Canva Sans"/>
              </a:rPr>
              <a:t>respect IMDb's scraping rules</a:t>
            </a:r>
          </a:p>
        </p:txBody>
      </p:sp>
      <p:sp>
        <p:nvSpPr>
          <p:cNvPr id="28" name="TextBox 28"/>
          <p:cNvSpPr txBox="1"/>
          <p:nvPr/>
        </p:nvSpPr>
        <p:spPr>
          <a:xfrm>
            <a:off x="15565038" y="708373"/>
            <a:ext cx="1694262" cy="257175"/>
          </a:xfrm>
          <a:prstGeom prst="rect">
            <a:avLst/>
          </a:prstGeom>
        </p:spPr>
        <p:txBody>
          <a:bodyPr lIns="0" tIns="0" rIns="0" bIns="0" rtlCol="0" anchor="t">
            <a:spAutoFit/>
          </a:bodyPr>
          <a:lstStyle/>
          <a:p>
            <a:pPr algn="just">
              <a:lnSpc>
                <a:spcPts val="2045"/>
              </a:lnSpc>
            </a:pPr>
            <a:r>
              <a:rPr lang="en-US" sz="1704">
                <a:solidFill>
                  <a:srgbClr val="000000"/>
                </a:solidFill>
                <a:latin typeface="Helvetica World"/>
                <a:ea typeface="Helvetica World"/>
                <a:cs typeface="Helvetica World"/>
                <a:sym typeface="Helvetica World"/>
              </a:rPr>
              <a:t>OSCAR GROUP</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989755" y="1023937"/>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Freeform 3"/>
          <p:cNvSpPr/>
          <p:nvPr/>
        </p:nvSpPr>
        <p:spPr>
          <a:xfrm>
            <a:off x="10410800" y="2392338"/>
            <a:ext cx="15169770" cy="8229600"/>
          </a:xfrm>
          <a:custGeom>
            <a:avLst/>
            <a:gdLst/>
            <a:ahLst/>
            <a:cxnLst/>
            <a:rect l="l" t="t" r="r" b="b"/>
            <a:pathLst>
              <a:path w="15169770" h="8229600">
                <a:moveTo>
                  <a:pt x="0" y="0"/>
                </a:moveTo>
                <a:lnTo>
                  <a:pt x="15169770" y="0"/>
                </a:lnTo>
                <a:lnTo>
                  <a:pt x="15169770" y="8229600"/>
                </a:lnTo>
                <a:lnTo>
                  <a:pt x="0" y="8229600"/>
                </a:lnTo>
                <a:lnTo>
                  <a:pt x="0" y="0"/>
                </a:lnTo>
                <a:close/>
              </a:path>
            </a:pathLst>
          </a:custGeom>
          <a:blipFill>
            <a:blip r:embed="rId2"/>
            <a:stretch>
              <a:fillRect/>
            </a:stretch>
          </a:blipFill>
        </p:spPr>
        <p:txBody>
          <a:bodyPr/>
          <a:lstStyle/>
          <a:p>
            <a:endParaRPr lang="en-MY"/>
          </a:p>
        </p:txBody>
      </p:sp>
      <p:sp>
        <p:nvSpPr>
          <p:cNvPr id="4" name="Freeform 4"/>
          <p:cNvSpPr/>
          <p:nvPr/>
        </p:nvSpPr>
        <p:spPr>
          <a:xfrm rot="-10800000">
            <a:off x="-802932" y="-3207691"/>
            <a:ext cx="7666453" cy="10590804"/>
          </a:xfrm>
          <a:custGeom>
            <a:avLst/>
            <a:gdLst/>
            <a:ahLst/>
            <a:cxnLst/>
            <a:rect l="l" t="t" r="r" b="b"/>
            <a:pathLst>
              <a:path w="7666453" h="10590804">
                <a:moveTo>
                  <a:pt x="0" y="0"/>
                </a:moveTo>
                <a:lnTo>
                  <a:pt x="7666453" y="0"/>
                </a:lnTo>
                <a:lnTo>
                  <a:pt x="7666453" y="10590803"/>
                </a:lnTo>
                <a:lnTo>
                  <a:pt x="0" y="10590803"/>
                </a:lnTo>
                <a:lnTo>
                  <a:pt x="0" y="0"/>
                </a:lnTo>
                <a:close/>
              </a:path>
            </a:pathLst>
          </a:custGeom>
          <a:blipFill>
            <a:blip r:embed="rId3"/>
            <a:stretch>
              <a:fillRect l="-14582" r="-14582"/>
            </a:stretch>
          </a:blipFill>
        </p:spPr>
        <p:txBody>
          <a:bodyPr/>
          <a:lstStyle/>
          <a:p>
            <a:endParaRPr lang="en-MY"/>
          </a:p>
        </p:txBody>
      </p:sp>
      <p:sp>
        <p:nvSpPr>
          <p:cNvPr id="5" name="TextBox 5"/>
          <p:cNvSpPr txBox="1"/>
          <p:nvPr/>
        </p:nvSpPr>
        <p:spPr>
          <a:xfrm>
            <a:off x="1028700" y="738187"/>
            <a:ext cx="3237639"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6" name="TextBox 6"/>
          <p:cNvSpPr txBox="1"/>
          <p:nvPr/>
        </p:nvSpPr>
        <p:spPr>
          <a:xfrm>
            <a:off x="15504917" y="738187"/>
            <a:ext cx="1754383"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OSCAR GROUP</a:t>
            </a:r>
          </a:p>
        </p:txBody>
      </p:sp>
      <p:sp>
        <p:nvSpPr>
          <p:cNvPr id="7" name="TextBox 7"/>
          <p:cNvSpPr txBox="1"/>
          <p:nvPr/>
        </p:nvSpPr>
        <p:spPr>
          <a:xfrm>
            <a:off x="1602863" y="1810944"/>
            <a:ext cx="7510689" cy="968207"/>
          </a:xfrm>
          <a:prstGeom prst="rect">
            <a:avLst/>
          </a:prstGeom>
        </p:spPr>
        <p:txBody>
          <a:bodyPr lIns="0" tIns="0" rIns="0" bIns="0" rtlCol="0" anchor="t">
            <a:spAutoFit/>
          </a:bodyPr>
          <a:lstStyle/>
          <a:p>
            <a:pPr algn="l">
              <a:lnSpc>
                <a:spcPts val="6356"/>
              </a:lnSpc>
            </a:pPr>
            <a:r>
              <a:rPr lang="en-US" sz="7062" b="1" spc="-211">
                <a:solidFill>
                  <a:srgbClr val="172427"/>
                </a:solidFill>
                <a:latin typeface="Helvetica World Bold"/>
                <a:ea typeface="Helvetica World Bold"/>
                <a:cs typeface="Helvetica World Bold"/>
                <a:sym typeface="Helvetica World Bold"/>
              </a:rPr>
              <a:t>Data Insight </a:t>
            </a:r>
          </a:p>
        </p:txBody>
      </p:sp>
      <p:sp>
        <p:nvSpPr>
          <p:cNvPr id="8" name="TextBox 8"/>
          <p:cNvSpPr txBox="1"/>
          <p:nvPr/>
        </p:nvSpPr>
        <p:spPr>
          <a:xfrm>
            <a:off x="1602863" y="3180990"/>
            <a:ext cx="14476217" cy="5345431"/>
          </a:xfrm>
          <a:prstGeom prst="rect">
            <a:avLst/>
          </a:prstGeom>
        </p:spPr>
        <p:txBody>
          <a:bodyPr lIns="0" tIns="0" rIns="0" bIns="0" rtlCol="0" anchor="t">
            <a:spAutoFit/>
          </a:bodyPr>
          <a:lstStyle/>
          <a:p>
            <a:pPr marL="582928" lvl="1" indent="-291464" algn="just">
              <a:lnSpc>
                <a:spcPts val="5399"/>
              </a:lnSpc>
              <a:buFont typeface="Arial"/>
              <a:buChar char="•"/>
            </a:pPr>
            <a:r>
              <a:rPr lang="en-US" sz="2699">
                <a:solidFill>
                  <a:srgbClr val="172427"/>
                </a:solidFill>
                <a:latin typeface="Canva Sans"/>
                <a:ea typeface="Canva Sans"/>
                <a:cs typeface="Canva Sans"/>
                <a:sym typeface="Canva Sans"/>
              </a:rPr>
              <a:t>The data from this project is taken from a source named IMDb (Internet Movie Database).</a:t>
            </a:r>
          </a:p>
          <a:p>
            <a:pPr marL="582928" lvl="1" indent="-291464" algn="just">
              <a:lnSpc>
                <a:spcPts val="5399"/>
              </a:lnSpc>
              <a:buFont typeface="Arial"/>
              <a:buChar char="•"/>
            </a:pPr>
            <a:r>
              <a:rPr lang="en-US" sz="2699">
                <a:solidFill>
                  <a:srgbClr val="172427"/>
                </a:solidFill>
                <a:latin typeface="Canva Sans"/>
                <a:ea typeface="Canva Sans"/>
                <a:cs typeface="Canva Sans"/>
                <a:sym typeface="Canva Sans"/>
              </a:rPr>
              <a:t>It provides details regarding films, television shows, and video games.</a:t>
            </a:r>
          </a:p>
          <a:p>
            <a:pPr marL="582928" lvl="1" indent="-291464" algn="just">
              <a:lnSpc>
                <a:spcPts val="5399"/>
              </a:lnSpc>
              <a:buFont typeface="Arial"/>
              <a:buChar char="•"/>
            </a:pPr>
            <a:r>
              <a:rPr lang="en-US" sz="2699">
                <a:solidFill>
                  <a:srgbClr val="172427"/>
                </a:solidFill>
                <a:latin typeface="Canva Sans"/>
                <a:ea typeface="Canva Sans"/>
                <a:cs typeface="Canva Sans"/>
                <a:sym typeface="Canva Sans"/>
              </a:rPr>
              <a:t>In this project, reviews of Oscar-winning movies from 2015–2024 are scraped and analyzed to understand public sentiment</a:t>
            </a:r>
          </a:p>
          <a:p>
            <a:pPr marL="582928" lvl="1" indent="-291464" algn="just">
              <a:lnSpc>
                <a:spcPts val="5399"/>
              </a:lnSpc>
              <a:buFont typeface="Arial"/>
              <a:buChar char="•"/>
            </a:pPr>
            <a:r>
              <a:rPr lang="en-US" sz="2699">
                <a:solidFill>
                  <a:srgbClr val="172427"/>
                </a:solidFill>
                <a:latin typeface="Canva Sans"/>
                <a:ea typeface="Canva Sans"/>
                <a:cs typeface="Canva Sans"/>
                <a:sym typeface="Canva Sans"/>
              </a:rPr>
              <a:t>Among the 10 movies included are </a:t>
            </a:r>
            <a:r>
              <a:rPr lang="en-US" sz="2699" i="1">
                <a:solidFill>
                  <a:srgbClr val="172427"/>
                </a:solidFill>
                <a:latin typeface="Canva Sans Italics"/>
                <a:ea typeface="Canva Sans Italics"/>
                <a:cs typeface="Canva Sans Italics"/>
                <a:sym typeface="Canva Sans Italics"/>
              </a:rPr>
              <a:t>Oppenheimer</a:t>
            </a:r>
            <a:r>
              <a:rPr lang="en-US" sz="2699">
                <a:solidFill>
                  <a:srgbClr val="172427"/>
                </a:solidFill>
                <a:latin typeface="Canva Sans"/>
                <a:ea typeface="Canva Sans"/>
                <a:cs typeface="Canva Sans"/>
                <a:sym typeface="Canva Sans"/>
              </a:rPr>
              <a:t>, </a:t>
            </a:r>
            <a:r>
              <a:rPr lang="en-US" sz="2699" i="1">
                <a:solidFill>
                  <a:srgbClr val="172427"/>
                </a:solidFill>
                <a:latin typeface="Canva Sans Italics"/>
                <a:ea typeface="Canva Sans Italics"/>
                <a:cs typeface="Canva Sans Italics"/>
                <a:sym typeface="Canva Sans Italics"/>
              </a:rPr>
              <a:t>CODA</a:t>
            </a:r>
            <a:r>
              <a:rPr lang="en-US" sz="2699">
                <a:solidFill>
                  <a:srgbClr val="172427"/>
                </a:solidFill>
                <a:latin typeface="Canva Sans"/>
                <a:ea typeface="Canva Sans"/>
                <a:cs typeface="Canva Sans"/>
                <a:sym typeface="Canva Sans"/>
              </a:rPr>
              <a:t>, </a:t>
            </a:r>
            <a:r>
              <a:rPr lang="en-US" sz="2699" i="1">
                <a:solidFill>
                  <a:srgbClr val="172427"/>
                </a:solidFill>
                <a:latin typeface="Canva Sans Italics"/>
                <a:ea typeface="Canva Sans Italics"/>
                <a:cs typeface="Canva Sans Italics"/>
                <a:sym typeface="Canva Sans Italics"/>
              </a:rPr>
              <a:t>Poor Things</a:t>
            </a:r>
            <a:r>
              <a:rPr lang="en-US" sz="2699">
                <a:solidFill>
                  <a:srgbClr val="172427"/>
                </a:solidFill>
                <a:latin typeface="Canva Sans"/>
                <a:ea typeface="Canva Sans"/>
                <a:cs typeface="Canva Sans"/>
                <a:sym typeface="Canva Sans"/>
              </a:rPr>
              <a:t>, and several others</a:t>
            </a:r>
          </a:p>
          <a:p>
            <a:pPr marL="582928" lvl="1" indent="-291464" algn="just">
              <a:lnSpc>
                <a:spcPts val="5399"/>
              </a:lnSpc>
              <a:buFont typeface="Arial"/>
              <a:buChar char="•"/>
            </a:pPr>
            <a:r>
              <a:rPr lang="en-US" sz="2699">
                <a:solidFill>
                  <a:srgbClr val="172427"/>
                </a:solidFill>
                <a:latin typeface="Canva Sans"/>
                <a:ea typeface="Canva Sans"/>
                <a:cs typeface="Canva Sans"/>
                <a:sym typeface="Canva Sans"/>
              </a:rPr>
              <a:t> A total of 100 reviews are scraped for each movie</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304866" y="1044099"/>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TextBox 3"/>
          <p:cNvSpPr txBox="1"/>
          <p:nvPr/>
        </p:nvSpPr>
        <p:spPr>
          <a:xfrm>
            <a:off x="1384300" y="1721576"/>
            <a:ext cx="14271314" cy="1243965"/>
          </a:xfrm>
          <a:prstGeom prst="rect">
            <a:avLst/>
          </a:prstGeom>
        </p:spPr>
        <p:txBody>
          <a:bodyPr lIns="0" tIns="0" rIns="0" bIns="0" rtlCol="0" anchor="t">
            <a:spAutoFit/>
          </a:bodyPr>
          <a:lstStyle/>
          <a:p>
            <a:pPr algn="l">
              <a:lnSpc>
                <a:spcPts val="8100"/>
              </a:lnSpc>
            </a:pPr>
            <a:r>
              <a:rPr lang="en-US" sz="9000" b="1" spc="-270">
                <a:solidFill>
                  <a:srgbClr val="172427"/>
                </a:solidFill>
                <a:latin typeface="Helvetica World Bold"/>
                <a:ea typeface="Helvetica World Bold"/>
                <a:cs typeface="Helvetica World Bold"/>
                <a:sym typeface="Helvetica World Bold"/>
              </a:rPr>
              <a:t>Pre - Processing Technique</a:t>
            </a:r>
          </a:p>
        </p:txBody>
      </p:sp>
      <p:sp>
        <p:nvSpPr>
          <p:cNvPr id="4" name="TextBox 4"/>
          <p:cNvSpPr txBox="1"/>
          <p:nvPr/>
        </p:nvSpPr>
        <p:spPr>
          <a:xfrm>
            <a:off x="1028700" y="771525"/>
            <a:ext cx="3716108"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5" name="TextBox 5"/>
          <p:cNvSpPr txBox="1"/>
          <p:nvPr/>
        </p:nvSpPr>
        <p:spPr>
          <a:xfrm>
            <a:off x="1529834" y="3479052"/>
            <a:ext cx="42515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Text Pre-processing Process</a:t>
            </a:r>
          </a:p>
        </p:txBody>
      </p:sp>
      <p:sp>
        <p:nvSpPr>
          <p:cNvPr id="6" name="TextBox 6"/>
          <p:cNvSpPr txBox="1"/>
          <p:nvPr/>
        </p:nvSpPr>
        <p:spPr>
          <a:xfrm>
            <a:off x="15660172" y="771525"/>
            <a:ext cx="1594604" cy="257175"/>
          </a:xfrm>
          <a:prstGeom prst="rect">
            <a:avLst/>
          </a:prstGeom>
        </p:spPr>
        <p:txBody>
          <a:bodyPr lIns="0" tIns="0" rIns="0" bIns="0" rtlCol="0" anchor="t">
            <a:spAutoFit/>
          </a:bodyPr>
          <a:lstStyle/>
          <a:p>
            <a:pPr algn="ctr">
              <a:lnSpc>
                <a:spcPts val="2040"/>
              </a:lnSpc>
              <a:spcBef>
                <a:spcPct val="0"/>
              </a:spcBef>
            </a:pPr>
            <a:r>
              <a:rPr lang="en-US" sz="1700" dirty="0">
                <a:solidFill>
                  <a:srgbClr val="172427"/>
                </a:solidFill>
                <a:latin typeface="Helvetica World"/>
                <a:ea typeface="Helvetica World"/>
                <a:cs typeface="Helvetica World"/>
                <a:sym typeface="Helvetica World"/>
              </a:rPr>
              <a:t>OSCAR GROUP</a:t>
            </a:r>
          </a:p>
        </p:txBody>
      </p:sp>
      <p:grpSp>
        <p:nvGrpSpPr>
          <p:cNvPr id="7" name="Group 7"/>
          <p:cNvGrpSpPr/>
          <p:nvPr/>
        </p:nvGrpSpPr>
        <p:grpSpPr>
          <a:xfrm>
            <a:off x="1992394" y="3960733"/>
            <a:ext cx="3094790" cy="1013842"/>
            <a:chOff x="0" y="0"/>
            <a:chExt cx="815089" cy="267020"/>
          </a:xfrm>
        </p:grpSpPr>
        <p:sp>
          <p:nvSpPr>
            <p:cNvPr id="8" name="Freeform 8"/>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9" name="TextBox 9"/>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0" name="TextBox 10"/>
          <p:cNvSpPr txBox="1"/>
          <p:nvPr/>
        </p:nvSpPr>
        <p:spPr>
          <a:xfrm>
            <a:off x="2319875" y="4021884"/>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Unitize &amp;</a:t>
            </a:r>
          </a:p>
          <a:p>
            <a:pPr algn="ctr">
              <a:lnSpc>
                <a:spcPts val="3359"/>
              </a:lnSpc>
            </a:pPr>
            <a:r>
              <a:rPr lang="en-US" sz="2400">
                <a:solidFill>
                  <a:srgbClr val="172427"/>
                </a:solidFill>
                <a:latin typeface="Glacial Indifference"/>
                <a:ea typeface="Glacial Indifference"/>
                <a:cs typeface="Glacial Indifference"/>
                <a:sym typeface="Glacial Indifference"/>
              </a:rPr>
              <a:t>Tokenize </a:t>
            </a:r>
          </a:p>
        </p:txBody>
      </p:sp>
      <p:grpSp>
        <p:nvGrpSpPr>
          <p:cNvPr id="11" name="Group 11"/>
          <p:cNvGrpSpPr/>
          <p:nvPr/>
        </p:nvGrpSpPr>
        <p:grpSpPr>
          <a:xfrm>
            <a:off x="6049210" y="3960733"/>
            <a:ext cx="3094790" cy="1013842"/>
            <a:chOff x="0" y="0"/>
            <a:chExt cx="815089" cy="267020"/>
          </a:xfrm>
        </p:grpSpPr>
        <p:sp>
          <p:nvSpPr>
            <p:cNvPr id="12" name="Freeform 12"/>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3" name="TextBox 13"/>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4" name="TextBox 14"/>
          <p:cNvSpPr txBox="1"/>
          <p:nvPr/>
        </p:nvSpPr>
        <p:spPr>
          <a:xfrm>
            <a:off x="6376690" y="4021884"/>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Standardize &amp; </a:t>
            </a:r>
          </a:p>
          <a:p>
            <a:pPr algn="ctr">
              <a:lnSpc>
                <a:spcPts val="3359"/>
              </a:lnSpc>
            </a:pPr>
            <a:r>
              <a:rPr lang="en-US" sz="2400">
                <a:solidFill>
                  <a:srgbClr val="172427"/>
                </a:solidFill>
                <a:latin typeface="Glacial Indifference"/>
                <a:ea typeface="Glacial Indifference"/>
                <a:cs typeface="Glacial Indifference"/>
                <a:sym typeface="Glacial Indifference"/>
              </a:rPr>
              <a:t>Cleanse</a:t>
            </a:r>
          </a:p>
        </p:txBody>
      </p:sp>
      <p:grpSp>
        <p:nvGrpSpPr>
          <p:cNvPr id="15" name="Group 15"/>
          <p:cNvGrpSpPr/>
          <p:nvPr/>
        </p:nvGrpSpPr>
        <p:grpSpPr>
          <a:xfrm>
            <a:off x="10106860" y="3960733"/>
            <a:ext cx="3094790" cy="1013842"/>
            <a:chOff x="0" y="0"/>
            <a:chExt cx="815089" cy="267020"/>
          </a:xfrm>
        </p:grpSpPr>
        <p:sp>
          <p:nvSpPr>
            <p:cNvPr id="16" name="Freeform 16"/>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7" name="TextBox 17"/>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8" name="TextBox 18"/>
          <p:cNvSpPr txBox="1"/>
          <p:nvPr/>
        </p:nvSpPr>
        <p:spPr>
          <a:xfrm>
            <a:off x="10434340" y="4021884"/>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Stop Word </a:t>
            </a:r>
          </a:p>
          <a:p>
            <a:pPr algn="ctr">
              <a:lnSpc>
                <a:spcPts val="3359"/>
              </a:lnSpc>
            </a:pPr>
            <a:r>
              <a:rPr lang="en-US" sz="2400">
                <a:solidFill>
                  <a:srgbClr val="172427"/>
                </a:solidFill>
                <a:latin typeface="Glacial Indifference"/>
                <a:ea typeface="Glacial Indifference"/>
                <a:cs typeface="Glacial Indifference"/>
                <a:sym typeface="Glacial Indifference"/>
              </a:rPr>
              <a:t>Removal</a:t>
            </a:r>
          </a:p>
        </p:txBody>
      </p:sp>
      <p:grpSp>
        <p:nvGrpSpPr>
          <p:cNvPr id="19" name="Group 19"/>
          <p:cNvGrpSpPr/>
          <p:nvPr/>
        </p:nvGrpSpPr>
        <p:grpSpPr>
          <a:xfrm>
            <a:off x="14164510" y="3960733"/>
            <a:ext cx="3094790" cy="1013842"/>
            <a:chOff x="0" y="0"/>
            <a:chExt cx="815089" cy="267020"/>
          </a:xfrm>
        </p:grpSpPr>
        <p:sp>
          <p:nvSpPr>
            <p:cNvPr id="20" name="Freeform 20"/>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21" name="TextBox 21"/>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22" name="TextBox 22"/>
          <p:cNvSpPr txBox="1"/>
          <p:nvPr/>
        </p:nvSpPr>
        <p:spPr>
          <a:xfrm>
            <a:off x="14491990" y="4021884"/>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Stem &amp;</a:t>
            </a:r>
          </a:p>
          <a:p>
            <a:pPr algn="ctr">
              <a:lnSpc>
                <a:spcPts val="3359"/>
              </a:lnSpc>
            </a:pPr>
            <a:r>
              <a:rPr lang="en-US" sz="2400">
                <a:solidFill>
                  <a:srgbClr val="172427"/>
                </a:solidFill>
                <a:latin typeface="Glacial Indifference"/>
                <a:ea typeface="Glacial Indifference"/>
                <a:cs typeface="Glacial Indifference"/>
                <a:sym typeface="Glacial Indifference"/>
              </a:rPr>
              <a:t>Lemmatize</a:t>
            </a:r>
          </a:p>
        </p:txBody>
      </p:sp>
      <p:sp>
        <p:nvSpPr>
          <p:cNvPr id="23" name="AutoShape 23"/>
          <p:cNvSpPr/>
          <p:nvPr/>
        </p:nvSpPr>
        <p:spPr>
          <a:xfrm flipV="1">
            <a:off x="5087185" y="4467654"/>
            <a:ext cx="962025" cy="0"/>
          </a:xfrm>
          <a:prstGeom prst="line">
            <a:avLst/>
          </a:prstGeom>
          <a:ln w="38100" cap="flat">
            <a:solidFill>
              <a:srgbClr val="172427"/>
            </a:solidFill>
            <a:prstDash val="sysDot"/>
            <a:headEnd type="none" w="sm" len="sm"/>
            <a:tailEnd type="arrow" w="med" len="sm"/>
          </a:ln>
        </p:spPr>
        <p:txBody>
          <a:bodyPr/>
          <a:lstStyle/>
          <a:p>
            <a:endParaRPr lang="en-MY"/>
          </a:p>
        </p:txBody>
      </p:sp>
      <p:sp>
        <p:nvSpPr>
          <p:cNvPr id="24" name="AutoShape 24"/>
          <p:cNvSpPr/>
          <p:nvPr/>
        </p:nvSpPr>
        <p:spPr>
          <a:xfrm flipV="1">
            <a:off x="9144000" y="4448604"/>
            <a:ext cx="962025" cy="0"/>
          </a:xfrm>
          <a:prstGeom prst="line">
            <a:avLst/>
          </a:prstGeom>
          <a:ln w="38100" cap="flat">
            <a:solidFill>
              <a:srgbClr val="172427"/>
            </a:solidFill>
            <a:prstDash val="sysDot"/>
            <a:headEnd type="none" w="sm" len="sm"/>
            <a:tailEnd type="arrow" w="med" len="sm"/>
          </a:ln>
        </p:spPr>
        <p:txBody>
          <a:bodyPr/>
          <a:lstStyle/>
          <a:p>
            <a:endParaRPr lang="en-MY"/>
          </a:p>
        </p:txBody>
      </p:sp>
      <p:sp>
        <p:nvSpPr>
          <p:cNvPr id="25" name="AutoShape 25"/>
          <p:cNvSpPr/>
          <p:nvPr/>
        </p:nvSpPr>
        <p:spPr>
          <a:xfrm flipV="1">
            <a:off x="13201650" y="4429554"/>
            <a:ext cx="962025" cy="0"/>
          </a:xfrm>
          <a:prstGeom prst="line">
            <a:avLst/>
          </a:prstGeom>
          <a:ln w="38100" cap="flat">
            <a:solidFill>
              <a:srgbClr val="172427"/>
            </a:solidFill>
            <a:prstDash val="sysDot"/>
            <a:headEnd type="none" w="sm" len="sm"/>
            <a:tailEnd type="arrow" w="med" len="sm"/>
          </a:ln>
        </p:spPr>
        <p:txBody>
          <a:bodyPr/>
          <a:lstStyle/>
          <a:p>
            <a:endParaRPr lang="en-MY"/>
          </a:p>
        </p:txBody>
      </p:sp>
      <p:sp>
        <p:nvSpPr>
          <p:cNvPr id="26" name="TextBox 26"/>
          <p:cNvSpPr txBox="1"/>
          <p:nvPr/>
        </p:nvSpPr>
        <p:spPr>
          <a:xfrm>
            <a:off x="1529834" y="5808488"/>
            <a:ext cx="1883083"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Sample Doc: </a:t>
            </a:r>
          </a:p>
        </p:txBody>
      </p:sp>
      <p:sp>
        <p:nvSpPr>
          <p:cNvPr id="27" name="TextBox 27"/>
          <p:cNvSpPr txBox="1"/>
          <p:nvPr/>
        </p:nvSpPr>
        <p:spPr>
          <a:xfrm>
            <a:off x="1529834" y="6219968"/>
            <a:ext cx="116917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A review from the movie </a:t>
            </a:r>
            <a:r>
              <a:rPr lang="en-US" sz="2099" b="1" i="1">
                <a:solidFill>
                  <a:srgbClr val="172427"/>
                </a:solidFill>
                <a:latin typeface="Helvetica World Bold Italics"/>
                <a:ea typeface="Helvetica World Bold Italics"/>
                <a:cs typeface="Helvetica World Bold Italics"/>
                <a:sym typeface="Helvetica World Bold Italics"/>
              </a:rPr>
              <a:t>Oppenheimer 2023 </a:t>
            </a:r>
            <a:r>
              <a:rPr lang="en-US" sz="2099" b="1">
                <a:solidFill>
                  <a:srgbClr val="172427"/>
                </a:solidFill>
                <a:latin typeface="Helvetica World Bold"/>
                <a:ea typeface="Helvetica World Bold"/>
                <a:cs typeface="Helvetica World Bold"/>
                <a:sym typeface="Helvetica World Bold"/>
              </a:rPr>
              <a:t>:</a:t>
            </a:r>
          </a:p>
        </p:txBody>
      </p:sp>
      <p:sp>
        <p:nvSpPr>
          <p:cNvPr id="28" name="TextBox 28"/>
          <p:cNvSpPr txBox="1"/>
          <p:nvPr/>
        </p:nvSpPr>
        <p:spPr>
          <a:xfrm>
            <a:off x="1529834" y="6831473"/>
            <a:ext cx="15401985" cy="2886075"/>
          </a:xfrm>
          <a:prstGeom prst="rect">
            <a:avLst/>
          </a:prstGeom>
        </p:spPr>
        <p:txBody>
          <a:bodyPr lIns="0" tIns="0" rIns="0" bIns="0" rtlCol="0" anchor="t">
            <a:spAutoFit/>
          </a:bodyPr>
          <a:lstStyle/>
          <a:p>
            <a:pPr algn="just">
              <a:lnSpc>
                <a:spcPts val="2879"/>
              </a:lnSpc>
              <a:spcBef>
                <a:spcPct val="0"/>
              </a:spcBef>
            </a:pPr>
            <a:r>
              <a:rPr lang="en-US" sz="2399">
                <a:solidFill>
                  <a:srgbClr val="172427"/>
                </a:solidFill>
                <a:latin typeface="Helvetica World"/>
                <a:ea typeface="Helvetica World"/>
                <a:cs typeface="Helvetica World"/>
                <a:sym typeface="Helvetica World"/>
              </a:rPr>
              <a:t>I'm still collecting my thoughts after experiencing this film, Cillian Murphy might as well start clearing a space on his mantle for the Best Actor Oscar.This film is a masterclass in weaving narratives and different time periods while exploring the profound depths of a man whose actions altered the world's trajectory forever, for better or worse. Nolan brings us into the complexities of Oppenheimer, and all the moral conflicts stirring within him.Murphy's portrayal is so riveting that the long run-time became an afterthought. Robert Downey Jr also offers a great performance and Nolan's push and pull with how he uses sound design throughout is the cherry on top.Some viewers might need a brief refresher on WWII and Cold War history, but any film lover should be happy to willingly lose themselves in this film for hours on end.</a:t>
            </a: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304866" y="1044099"/>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TextBox 3"/>
          <p:cNvSpPr txBox="1"/>
          <p:nvPr/>
        </p:nvSpPr>
        <p:spPr>
          <a:xfrm>
            <a:off x="7726053" y="798195"/>
            <a:ext cx="2835894" cy="230505"/>
          </a:xfrm>
          <a:prstGeom prst="rect">
            <a:avLst/>
          </a:prstGeom>
        </p:spPr>
        <p:txBody>
          <a:bodyPr lIns="0" tIns="0" rIns="0" bIns="0" rtlCol="0" anchor="t">
            <a:spAutoFit/>
          </a:bodyPr>
          <a:lstStyle/>
          <a:p>
            <a:pPr algn="l">
              <a:lnSpc>
                <a:spcPts val="1530"/>
              </a:lnSpc>
            </a:pPr>
            <a:r>
              <a:rPr lang="en-US" sz="1700" b="1" spc="-51">
                <a:solidFill>
                  <a:srgbClr val="172427"/>
                </a:solidFill>
                <a:latin typeface="Helvetica World Bold"/>
                <a:ea typeface="Helvetica World Bold"/>
                <a:cs typeface="Helvetica World Bold"/>
                <a:sym typeface="Helvetica World Bold"/>
              </a:rPr>
              <a:t>Pre - Processing Technique</a:t>
            </a:r>
          </a:p>
        </p:txBody>
      </p:sp>
      <p:sp>
        <p:nvSpPr>
          <p:cNvPr id="4" name="TextBox 4"/>
          <p:cNvSpPr txBox="1"/>
          <p:nvPr/>
        </p:nvSpPr>
        <p:spPr>
          <a:xfrm>
            <a:off x="1028700" y="771525"/>
            <a:ext cx="3716108"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5" name="TextBox 5"/>
          <p:cNvSpPr txBox="1"/>
          <p:nvPr/>
        </p:nvSpPr>
        <p:spPr>
          <a:xfrm>
            <a:off x="1279267" y="1565174"/>
            <a:ext cx="42515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Text Pre-processing Process</a:t>
            </a:r>
          </a:p>
        </p:txBody>
      </p:sp>
      <p:sp>
        <p:nvSpPr>
          <p:cNvPr id="6" name="TextBox 6"/>
          <p:cNvSpPr txBox="1"/>
          <p:nvPr/>
        </p:nvSpPr>
        <p:spPr>
          <a:xfrm>
            <a:off x="15392400" y="771525"/>
            <a:ext cx="1862376" cy="256480"/>
          </a:xfrm>
          <a:prstGeom prst="rect">
            <a:avLst/>
          </a:prstGeom>
        </p:spPr>
        <p:txBody>
          <a:bodyPr wrap="square" lIns="0" tIns="0" rIns="0" bIns="0" rtlCol="0" anchor="t">
            <a:spAutoFit/>
          </a:bodyPr>
          <a:lstStyle/>
          <a:p>
            <a:pPr algn="ctr">
              <a:lnSpc>
                <a:spcPts val="2040"/>
              </a:lnSpc>
              <a:spcBef>
                <a:spcPct val="0"/>
              </a:spcBef>
            </a:pPr>
            <a:r>
              <a:rPr lang="en-US" sz="1700" dirty="0">
                <a:solidFill>
                  <a:srgbClr val="172427"/>
                </a:solidFill>
                <a:latin typeface="Helvetica World"/>
                <a:ea typeface="Helvetica World"/>
                <a:cs typeface="Helvetica World"/>
                <a:sym typeface="Helvetica World"/>
              </a:rPr>
              <a:t>OSCAR GROUP</a:t>
            </a:r>
          </a:p>
        </p:txBody>
      </p:sp>
      <p:grpSp>
        <p:nvGrpSpPr>
          <p:cNvPr id="7" name="Group 7"/>
          <p:cNvGrpSpPr/>
          <p:nvPr/>
        </p:nvGrpSpPr>
        <p:grpSpPr>
          <a:xfrm>
            <a:off x="1529834" y="2179075"/>
            <a:ext cx="3094790" cy="1013842"/>
            <a:chOff x="0" y="0"/>
            <a:chExt cx="4126387" cy="1351789"/>
          </a:xfrm>
        </p:grpSpPr>
        <p:grpSp>
          <p:nvGrpSpPr>
            <p:cNvPr id="8" name="Group 8"/>
            <p:cNvGrpSpPr/>
            <p:nvPr/>
          </p:nvGrpSpPr>
          <p:grpSpPr>
            <a:xfrm>
              <a:off x="0" y="0"/>
              <a:ext cx="4126387" cy="1351789"/>
              <a:chOff x="0" y="0"/>
              <a:chExt cx="815089" cy="267020"/>
            </a:xfrm>
          </p:grpSpPr>
          <p:sp>
            <p:nvSpPr>
              <p:cNvPr id="9" name="Freeform 9"/>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0" name="TextBox 10"/>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1" name="TextBox 11"/>
            <p:cNvSpPr txBox="1"/>
            <p:nvPr/>
          </p:nvSpPr>
          <p:spPr>
            <a:xfrm>
              <a:off x="436641" y="100584"/>
              <a:ext cx="3253105" cy="109347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Unitize &amp;</a:t>
              </a:r>
            </a:p>
            <a:p>
              <a:pPr algn="ctr">
                <a:lnSpc>
                  <a:spcPts val="3359"/>
                </a:lnSpc>
              </a:pPr>
              <a:r>
                <a:rPr lang="en-US" sz="2400">
                  <a:solidFill>
                    <a:srgbClr val="172427"/>
                  </a:solidFill>
                  <a:latin typeface="Glacial Indifference"/>
                  <a:ea typeface="Glacial Indifference"/>
                  <a:cs typeface="Glacial Indifference"/>
                  <a:sym typeface="Glacial Indifference"/>
                </a:rPr>
                <a:t>Tokenize </a:t>
              </a:r>
            </a:p>
          </p:txBody>
        </p:sp>
      </p:grpSp>
      <p:sp>
        <p:nvSpPr>
          <p:cNvPr id="12" name="TextBox 12"/>
          <p:cNvSpPr txBox="1"/>
          <p:nvPr/>
        </p:nvSpPr>
        <p:spPr>
          <a:xfrm>
            <a:off x="1529834" y="3716791"/>
            <a:ext cx="3366338" cy="37338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Tokenized Documents:</a:t>
            </a:r>
          </a:p>
        </p:txBody>
      </p:sp>
      <p:sp>
        <p:nvSpPr>
          <p:cNvPr id="13" name="TextBox 13"/>
          <p:cNvSpPr txBox="1"/>
          <p:nvPr/>
        </p:nvSpPr>
        <p:spPr>
          <a:xfrm>
            <a:off x="1583500" y="4309246"/>
            <a:ext cx="15675800" cy="4514850"/>
          </a:xfrm>
          <a:prstGeom prst="rect">
            <a:avLst/>
          </a:prstGeom>
        </p:spPr>
        <p:txBody>
          <a:bodyPr lIns="0" tIns="0" rIns="0" bIns="0" rtlCol="0" anchor="t">
            <a:spAutoFit/>
          </a:bodyPr>
          <a:lstStyle/>
          <a:p>
            <a:pPr algn="just">
              <a:lnSpc>
                <a:spcPts val="3239"/>
              </a:lnSpc>
            </a:pPr>
            <a:r>
              <a:rPr lang="en-US" sz="2699" dirty="0">
                <a:solidFill>
                  <a:srgbClr val="172427"/>
                </a:solidFill>
                <a:latin typeface="Helvetica World"/>
                <a:ea typeface="Helvetica World"/>
                <a:cs typeface="Helvetica World"/>
                <a:sym typeface="Helvetica World"/>
              </a:rPr>
              <a:t>[I'm] [still] [collecting] [my] [thoughts] [after] [experiencing] [this] [film] [,] [Cillian] [Murphy] [might] [as] [well] [start] [clearing] [a] [space] [on] [his] [mantle] [for] [the] [Best] [Actor] [Oscar] [.] [This] [film] [is] [a] [masterclass] [in] [weaving] [narratives] [and] [different]  [time] [periods] [while] [exploring] [the] [profound] [depths] [of] [a] [man] [whose] [actions] [altered] [the] [world's] [trajectory] [forever] [,] [for] [better] [or] [worse] [.] [Nolan] [brings] [us] [into] [the] [complexities] [of] [Oppenheimer] [,] [and] [all] [the] [moral] [conflicts] [stirring] [within] [him] [.]  [Murphy's] [portrayal] [is] [so] [riveting] [that] [the] [long] [run-time] [became] [an] [afterthought] [.] [Robert] [Downey] [Jr] [also] [offers] [a] [great] [performance] [and] [Nolan's] [push] [and] [pull] [with] [how] [he] [uses] [sound] [design] [throughout] [is]  [the] [cherry] [on] [top] [.] [Some] [viewers] [might] [need] [a] [brief] [refresher] [on] [WWII] [and] [Cold]  [War] [history] [,] [but] [any] [film] [lover] [should] [be] [happy] [to]  [willingly] [lose] [themselves] [in] [this] [film] [for] [hours] [on] [end] [.]</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304866" y="1044099"/>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TextBox 3"/>
          <p:cNvSpPr txBox="1"/>
          <p:nvPr/>
        </p:nvSpPr>
        <p:spPr>
          <a:xfrm>
            <a:off x="7726053" y="798195"/>
            <a:ext cx="2835894" cy="230505"/>
          </a:xfrm>
          <a:prstGeom prst="rect">
            <a:avLst/>
          </a:prstGeom>
        </p:spPr>
        <p:txBody>
          <a:bodyPr lIns="0" tIns="0" rIns="0" bIns="0" rtlCol="0" anchor="t">
            <a:spAutoFit/>
          </a:bodyPr>
          <a:lstStyle/>
          <a:p>
            <a:pPr algn="l">
              <a:lnSpc>
                <a:spcPts val="1530"/>
              </a:lnSpc>
            </a:pPr>
            <a:r>
              <a:rPr lang="en-US" sz="1700" b="1" spc="-51">
                <a:solidFill>
                  <a:srgbClr val="172427"/>
                </a:solidFill>
                <a:latin typeface="Helvetica World Bold"/>
                <a:ea typeface="Helvetica World Bold"/>
                <a:cs typeface="Helvetica World Bold"/>
                <a:sym typeface="Helvetica World Bold"/>
              </a:rPr>
              <a:t>Pre - Processing Technique</a:t>
            </a:r>
          </a:p>
        </p:txBody>
      </p:sp>
      <p:sp>
        <p:nvSpPr>
          <p:cNvPr id="4" name="TextBox 4"/>
          <p:cNvSpPr txBox="1"/>
          <p:nvPr/>
        </p:nvSpPr>
        <p:spPr>
          <a:xfrm>
            <a:off x="1028700" y="771525"/>
            <a:ext cx="3716108"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5" name="TextBox 5"/>
          <p:cNvSpPr txBox="1"/>
          <p:nvPr/>
        </p:nvSpPr>
        <p:spPr>
          <a:xfrm>
            <a:off x="1525309" y="1774220"/>
            <a:ext cx="42515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Text Pre-processing Process</a:t>
            </a:r>
          </a:p>
        </p:txBody>
      </p:sp>
      <p:sp>
        <p:nvSpPr>
          <p:cNvPr id="6" name="TextBox 6"/>
          <p:cNvSpPr txBox="1"/>
          <p:nvPr/>
        </p:nvSpPr>
        <p:spPr>
          <a:xfrm>
            <a:off x="15392400" y="771525"/>
            <a:ext cx="1862376" cy="257175"/>
          </a:xfrm>
          <a:prstGeom prst="rect">
            <a:avLst/>
          </a:prstGeom>
        </p:spPr>
        <p:txBody>
          <a:bodyPr wrap="square" lIns="0" tIns="0" rIns="0" bIns="0" rtlCol="0" anchor="t">
            <a:spAutoFit/>
          </a:bodyPr>
          <a:lstStyle/>
          <a:p>
            <a:pPr algn="ctr">
              <a:lnSpc>
                <a:spcPts val="2040"/>
              </a:lnSpc>
              <a:spcBef>
                <a:spcPct val="0"/>
              </a:spcBef>
            </a:pPr>
            <a:r>
              <a:rPr lang="en-US" sz="1700" dirty="0">
                <a:solidFill>
                  <a:srgbClr val="172427"/>
                </a:solidFill>
                <a:latin typeface="Helvetica World"/>
                <a:ea typeface="Helvetica World"/>
                <a:cs typeface="Helvetica World"/>
                <a:sym typeface="Helvetica World"/>
              </a:rPr>
              <a:t>OSCAR GROUP</a:t>
            </a:r>
          </a:p>
        </p:txBody>
      </p:sp>
      <p:grpSp>
        <p:nvGrpSpPr>
          <p:cNvPr id="7" name="Group 7"/>
          <p:cNvGrpSpPr/>
          <p:nvPr/>
        </p:nvGrpSpPr>
        <p:grpSpPr>
          <a:xfrm>
            <a:off x="1775876" y="2388121"/>
            <a:ext cx="3094790" cy="1013842"/>
            <a:chOff x="0" y="0"/>
            <a:chExt cx="4126387" cy="1351789"/>
          </a:xfrm>
        </p:grpSpPr>
        <p:grpSp>
          <p:nvGrpSpPr>
            <p:cNvPr id="8" name="Group 8"/>
            <p:cNvGrpSpPr/>
            <p:nvPr/>
          </p:nvGrpSpPr>
          <p:grpSpPr>
            <a:xfrm>
              <a:off x="0" y="0"/>
              <a:ext cx="4126387" cy="1351789"/>
              <a:chOff x="0" y="0"/>
              <a:chExt cx="815089" cy="267020"/>
            </a:xfrm>
          </p:grpSpPr>
          <p:sp>
            <p:nvSpPr>
              <p:cNvPr id="9" name="Freeform 9"/>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0" name="TextBox 10"/>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1" name="TextBox 11"/>
            <p:cNvSpPr txBox="1"/>
            <p:nvPr/>
          </p:nvSpPr>
          <p:spPr>
            <a:xfrm>
              <a:off x="436641" y="100584"/>
              <a:ext cx="3253105" cy="109347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Unitize &amp;</a:t>
              </a:r>
            </a:p>
            <a:p>
              <a:pPr algn="ctr">
                <a:lnSpc>
                  <a:spcPts val="3359"/>
                </a:lnSpc>
              </a:pPr>
              <a:r>
                <a:rPr lang="en-US" sz="2400">
                  <a:solidFill>
                    <a:srgbClr val="172427"/>
                  </a:solidFill>
                  <a:latin typeface="Glacial Indifference"/>
                  <a:ea typeface="Glacial Indifference"/>
                  <a:cs typeface="Glacial Indifference"/>
                  <a:sym typeface="Glacial Indifference"/>
                </a:rPr>
                <a:t>Tokenize </a:t>
              </a:r>
            </a:p>
          </p:txBody>
        </p:sp>
      </p:grpSp>
      <p:sp>
        <p:nvSpPr>
          <p:cNvPr id="12" name="TextBox 12"/>
          <p:cNvSpPr txBox="1"/>
          <p:nvPr/>
        </p:nvSpPr>
        <p:spPr>
          <a:xfrm>
            <a:off x="1775876" y="3782963"/>
            <a:ext cx="14395059" cy="110109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During the standardize and cleanse process, the text is converted to lowercase, and URLs, HTML tags, contractions, punctuation, numbers, and emojis are removed. Slang words are also replaced with their formal equivalents, and spelling corrections are applied.</a:t>
            </a:r>
          </a:p>
        </p:txBody>
      </p:sp>
      <p:sp>
        <p:nvSpPr>
          <p:cNvPr id="13" name="TextBox 13"/>
          <p:cNvSpPr txBox="1"/>
          <p:nvPr/>
        </p:nvSpPr>
        <p:spPr>
          <a:xfrm>
            <a:off x="1529834" y="5580837"/>
            <a:ext cx="5351987" cy="37338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Standardize &amp; Cleansed Document :</a:t>
            </a:r>
          </a:p>
        </p:txBody>
      </p:sp>
      <p:sp>
        <p:nvSpPr>
          <p:cNvPr id="14" name="TextBox 14"/>
          <p:cNvSpPr txBox="1"/>
          <p:nvPr/>
        </p:nvSpPr>
        <p:spPr>
          <a:xfrm>
            <a:off x="1525309" y="6211392"/>
            <a:ext cx="14932164" cy="2962275"/>
          </a:xfrm>
          <a:prstGeom prst="rect">
            <a:avLst/>
          </a:prstGeom>
        </p:spPr>
        <p:txBody>
          <a:bodyPr lIns="0" tIns="0" rIns="0" bIns="0" rtlCol="0" anchor="t">
            <a:spAutoFit/>
          </a:bodyPr>
          <a:lstStyle/>
          <a:p>
            <a:pPr algn="just">
              <a:lnSpc>
                <a:spcPts val="2999"/>
              </a:lnSpc>
            </a:pPr>
            <a:r>
              <a:rPr lang="en-US" sz="2499">
                <a:solidFill>
                  <a:srgbClr val="172427"/>
                </a:solidFill>
                <a:latin typeface="Helvetica World"/>
                <a:ea typeface="Helvetica World"/>
                <a:cs typeface="Helvetica World"/>
                <a:sym typeface="Helvetica World"/>
              </a:rPr>
              <a:t>i am still collecting my thoughts after experiencing this film million murphy might as well start clearing a space on his mantle for the best actor oscar this film is a masterclass in weaving narratives and different time periods while exploring the profound depths of a man whose actions altered the worlds trajectory forever for better or worse nolan brings us into the complexities of oppenheimer and all the moral conflicts stirring within him murphys portrayal is so riveting that the long runtime became an afterthought robert downed jr also offers a great performance and nolan push and pull with how he uses sound design throughout is the cherry on topsome viewers might need a brief refresher on wwii and cold war history but any film lover should be happy to willingly lose themselves in this film for hours on end</a:t>
            </a:r>
          </a:p>
        </p:txBody>
      </p:sp>
      <p:grpSp>
        <p:nvGrpSpPr>
          <p:cNvPr id="15" name="Group 15"/>
          <p:cNvGrpSpPr/>
          <p:nvPr/>
        </p:nvGrpSpPr>
        <p:grpSpPr>
          <a:xfrm>
            <a:off x="5840516" y="2388121"/>
            <a:ext cx="3094790" cy="1013842"/>
            <a:chOff x="0" y="0"/>
            <a:chExt cx="4126387" cy="1351789"/>
          </a:xfrm>
        </p:grpSpPr>
        <p:grpSp>
          <p:nvGrpSpPr>
            <p:cNvPr id="16" name="Group 16"/>
            <p:cNvGrpSpPr/>
            <p:nvPr/>
          </p:nvGrpSpPr>
          <p:grpSpPr>
            <a:xfrm>
              <a:off x="0" y="0"/>
              <a:ext cx="4126387" cy="1351789"/>
              <a:chOff x="0" y="0"/>
              <a:chExt cx="815089" cy="267020"/>
            </a:xfrm>
          </p:grpSpPr>
          <p:sp>
            <p:nvSpPr>
              <p:cNvPr id="17" name="Freeform 17"/>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8" name="TextBox 18"/>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9" name="TextBox 19"/>
            <p:cNvSpPr txBox="1"/>
            <p:nvPr/>
          </p:nvSpPr>
          <p:spPr>
            <a:xfrm>
              <a:off x="436641" y="100584"/>
              <a:ext cx="3253105" cy="109347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Standardize &amp; </a:t>
              </a:r>
            </a:p>
            <a:p>
              <a:pPr algn="ctr">
                <a:lnSpc>
                  <a:spcPts val="3359"/>
                </a:lnSpc>
              </a:pPr>
              <a:r>
                <a:rPr lang="en-US" sz="2400">
                  <a:solidFill>
                    <a:srgbClr val="172427"/>
                  </a:solidFill>
                  <a:latin typeface="Glacial Indifference"/>
                  <a:ea typeface="Glacial Indifference"/>
                  <a:cs typeface="Glacial Indifference"/>
                  <a:sym typeface="Glacial Indifference"/>
                </a:rPr>
                <a:t>Cleanse</a:t>
              </a:r>
            </a:p>
          </p:txBody>
        </p:sp>
      </p:grpSp>
      <p:sp>
        <p:nvSpPr>
          <p:cNvPr id="20" name="AutoShape 20"/>
          <p:cNvSpPr/>
          <p:nvPr/>
        </p:nvSpPr>
        <p:spPr>
          <a:xfrm flipV="1">
            <a:off x="4870667" y="2914092"/>
            <a:ext cx="962025" cy="0"/>
          </a:xfrm>
          <a:prstGeom prst="line">
            <a:avLst/>
          </a:prstGeom>
          <a:ln w="38100" cap="flat">
            <a:solidFill>
              <a:srgbClr val="172427"/>
            </a:solidFill>
            <a:prstDash val="sysDot"/>
            <a:headEnd type="none" w="sm" len="sm"/>
            <a:tailEnd type="arrow" w="med" len="sm"/>
          </a:ln>
        </p:spPr>
        <p:txBody>
          <a:bodyPr/>
          <a:lstStyle/>
          <a:p>
            <a:endParaRPr lang="en-MY"/>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304866" y="1044099"/>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TextBox 3"/>
          <p:cNvSpPr txBox="1"/>
          <p:nvPr/>
        </p:nvSpPr>
        <p:spPr>
          <a:xfrm>
            <a:off x="7726053" y="798195"/>
            <a:ext cx="2835894" cy="230505"/>
          </a:xfrm>
          <a:prstGeom prst="rect">
            <a:avLst/>
          </a:prstGeom>
        </p:spPr>
        <p:txBody>
          <a:bodyPr lIns="0" tIns="0" rIns="0" bIns="0" rtlCol="0" anchor="t">
            <a:spAutoFit/>
          </a:bodyPr>
          <a:lstStyle/>
          <a:p>
            <a:pPr algn="l">
              <a:lnSpc>
                <a:spcPts val="1530"/>
              </a:lnSpc>
            </a:pPr>
            <a:r>
              <a:rPr lang="en-US" sz="1700" b="1" spc="-51">
                <a:solidFill>
                  <a:srgbClr val="172427"/>
                </a:solidFill>
                <a:latin typeface="Helvetica World Bold"/>
                <a:ea typeface="Helvetica World Bold"/>
                <a:cs typeface="Helvetica World Bold"/>
                <a:sym typeface="Helvetica World Bold"/>
              </a:rPr>
              <a:t>Pre - Processing Technique</a:t>
            </a:r>
          </a:p>
        </p:txBody>
      </p:sp>
      <p:sp>
        <p:nvSpPr>
          <p:cNvPr id="4" name="TextBox 4"/>
          <p:cNvSpPr txBox="1"/>
          <p:nvPr/>
        </p:nvSpPr>
        <p:spPr>
          <a:xfrm>
            <a:off x="1028700" y="771525"/>
            <a:ext cx="3716108"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5" name="TextBox 5"/>
          <p:cNvSpPr txBox="1"/>
          <p:nvPr/>
        </p:nvSpPr>
        <p:spPr>
          <a:xfrm>
            <a:off x="1529834" y="1924026"/>
            <a:ext cx="42515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Text Pre-processing Process</a:t>
            </a:r>
          </a:p>
        </p:txBody>
      </p:sp>
      <p:sp>
        <p:nvSpPr>
          <p:cNvPr id="6" name="TextBox 6"/>
          <p:cNvSpPr txBox="1"/>
          <p:nvPr/>
        </p:nvSpPr>
        <p:spPr>
          <a:xfrm>
            <a:off x="15468600" y="771526"/>
            <a:ext cx="1786176" cy="257174"/>
          </a:xfrm>
          <a:prstGeom prst="rect">
            <a:avLst/>
          </a:prstGeom>
        </p:spPr>
        <p:txBody>
          <a:bodyPr wrap="square" lIns="0" tIns="0" rIns="0" bIns="0" rtlCol="0" anchor="t">
            <a:spAutoFit/>
          </a:bodyPr>
          <a:lstStyle/>
          <a:p>
            <a:pPr algn="ctr">
              <a:lnSpc>
                <a:spcPts val="2040"/>
              </a:lnSpc>
              <a:spcBef>
                <a:spcPct val="0"/>
              </a:spcBef>
            </a:pPr>
            <a:r>
              <a:rPr lang="en-US" sz="1700" dirty="0">
                <a:solidFill>
                  <a:srgbClr val="172427"/>
                </a:solidFill>
                <a:latin typeface="Helvetica World"/>
                <a:ea typeface="Helvetica World"/>
                <a:cs typeface="Helvetica World"/>
                <a:sym typeface="Helvetica World"/>
              </a:rPr>
              <a:t>OSCAR GROUP</a:t>
            </a:r>
          </a:p>
        </p:txBody>
      </p:sp>
      <p:grpSp>
        <p:nvGrpSpPr>
          <p:cNvPr id="7" name="Group 7"/>
          <p:cNvGrpSpPr/>
          <p:nvPr/>
        </p:nvGrpSpPr>
        <p:grpSpPr>
          <a:xfrm>
            <a:off x="1780401" y="2537927"/>
            <a:ext cx="3094790" cy="1013842"/>
            <a:chOff x="0" y="0"/>
            <a:chExt cx="4126387" cy="1351789"/>
          </a:xfrm>
        </p:grpSpPr>
        <p:grpSp>
          <p:nvGrpSpPr>
            <p:cNvPr id="8" name="Group 8"/>
            <p:cNvGrpSpPr/>
            <p:nvPr/>
          </p:nvGrpSpPr>
          <p:grpSpPr>
            <a:xfrm>
              <a:off x="0" y="0"/>
              <a:ext cx="4126387" cy="1351789"/>
              <a:chOff x="0" y="0"/>
              <a:chExt cx="815089" cy="267020"/>
            </a:xfrm>
          </p:grpSpPr>
          <p:sp>
            <p:nvSpPr>
              <p:cNvPr id="9" name="Freeform 9"/>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0" name="TextBox 10"/>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1" name="TextBox 11"/>
            <p:cNvSpPr txBox="1"/>
            <p:nvPr/>
          </p:nvSpPr>
          <p:spPr>
            <a:xfrm>
              <a:off x="436641" y="100584"/>
              <a:ext cx="3253105" cy="109347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Unitize &amp;</a:t>
              </a:r>
            </a:p>
            <a:p>
              <a:pPr algn="ctr">
                <a:lnSpc>
                  <a:spcPts val="3359"/>
                </a:lnSpc>
              </a:pPr>
              <a:r>
                <a:rPr lang="en-US" sz="2400">
                  <a:solidFill>
                    <a:srgbClr val="172427"/>
                  </a:solidFill>
                  <a:latin typeface="Glacial Indifference"/>
                  <a:ea typeface="Glacial Indifference"/>
                  <a:cs typeface="Glacial Indifference"/>
                  <a:sym typeface="Glacial Indifference"/>
                </a:rPr>
                <a:t>Tokenize </a:t>
              </a:r>
            </a:p>
          </p:txBody>
        </p:sp>
      </p:grpSp>
      <p:sp>
        <p:nvSpPr>
          <p:cNvPr id="12" name="TextBox 12"/>
          <p:cNvSpPr txBox="1"/>
          <p:nvPr/>
        </p:nvSpPr>
        <p:spPr>
          <a:xfrm>
            <a:off x="1529834" y="4961572"/>
            <a:ext cx="5208446" cy="37338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Documents after stop word removal :</a:t>
            </a:r>
          </a:p>
        </p:txBody>
      </p:sp>
      <p:sp>
        <p:nvSpPr>
          <p:cNvPr id="13" name="TextBox 13"/>
          <p:cNvSpPr txBox="1"/>
          <p:nvPr/>
        </p:nvSpPr>
        <p:spPr>
          <a:xfrm>
            <a:off x="1529834" y="5667375"/>
            <a:ext cx="14932164" cy="2219325"/>
          </a:xfrm>
          <a:prstGeom prst="rect">
            <a:avLst/>
          </a:prstGeom>
        </p:spPr>
        <p:txBody>
          <a:bodyPr lIns="0" tIns="0" rIns="0" bIns="0" rtlCol="0" anchor="t">
            <a:spAutoFit/>
          </a:bodyPr>
          <a:lstStyle/>
          <a:p>
            <a:pPr algn="just">
              <a:lnSpc>
                <a:spcPts val="2999"/>
              </a:lnSpc>
            </a:pPr>
            <a:r>
              <a:rPr lang="en-US" sz="2499">
                <a:solidFill>
                  <a:srgbClr val="172427"/>
                </a:solidFill>
                <a:latin typeface="Helvetica World"/>
                <a:ea typeface="Helvetica World"/>
                <a:cs typeface="Helvetica World"/>
                <a:sym typeface="Helvetica World"/>
              </a:rPr>
              <a:t>still collecting thoughts experiencing film million murphy might well start clearing space mantle best actor oscar this film masterclass weaving narratives different time periods exploring profound depths man whose actions altered worlds trajectory forever better worse nolan brings us complexities oppenheimer moral conflicts stirring within him murphys portrayal riveting long runtime became afterthought robert downed jr also offers great performance nolan push pull uses sound design throughout cherry topsome viewers might need brief refresher wwii cold war history film lover happy willingly lose film hours end</a:t>
            </a:r>
          </a:p>
        </p:txBody>
      </p:sp>
      <p:grpSp>
        <p:nvGrpSpPr>
          <p:cNvPr id="14" name="Group 14"/>
          <p:cNvGrpSpPr/>
          <p:nvPr/>
        </p:nvGrpSpPr>
        <p:grpSpPr>
          <a:xfrm>
            <a:off x="5845040" y="2537927"/>
            <a:ext cx="3094790" cy="1013842"/>
            <a:chOff x="0" y="0"/>
            <a:chExt cx="815089" cy="267020"/>
          </a:xfrm>
        </p:grpSpPr>
        <p:sp>
          <p:nvSpPr>
            <p:cNvPr id="15" name="Freeform 15"/>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6" name="TextBox 16"/>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7" name="TextBox 17"/>
          <p:cNvSpPr txBox="1"/>
          <p:nvPr/>
        </p:nvSpPr>
        <p:spPr>
          <a:xfrm>
            <a:off x="6176152" y="2599077"/>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Standardize &amp; </a:t>
            </a:r>
          </a:p>
          <a:p>
            <a:pPr algn="ctr">
              <a:lnSpc>
                <a:spcPts val="3359"/>
              </a:lnSpc>
            </a:pPr>
            <a:r>
              <a:rPr lang="en-US" sz="2400">
                <a:solidFill>
                  <a:srgbClr val="172427"/>
                </a:solidFill>
                <a:latin typeface="Glacial Indifference"/>
                <a:ea typeface="Glacial Indifference"/>
                <a:cs typeface="Glacial Indifference"/>
                <a:sym typeface="Glacial Indifference"/>
              </a:rPr>
              <a:t>Cleanse</a:t>
            </a:r>
          </a:p>
        </p:txBody>
      </p:sp>
      <p:sp>
        <p:nvSpPr>
          <p:cNvPr id="18" name="AutoShape 18"/>
          <p:cNvSpPr/>
          <p:nvPr/>
        </p:nvSpPr>
        <p:spPr>
          <a:xfrm flipV="1">
            <a:off x="4875191" y="3063897"/>
            <a:ext cx="962025" cy="0"/>
          </a:xfrm>
          <a:prstGeom prst="line">
            <a:avLst/>
          </a:prstGeom>
          <a:ln w="38100" cap="flat">
            <a:solidFill>
              <a:srgbClr val="172427"/>
            </a:solidFill>
            <a:prstDash val="sysDot"/>
            <a:headEnd type="none" w="sm" len="sm"/>
            <a:tailEnd type="arrow" w="med" len="sm"/>
          </a:ln>
        </p:spPr>
        <p:txBody>
          <a:bodyPr/>
          <a:lstStyle/>
          <a:p>
            <a:endParaRPr lang="en-MY"/>
          </a:p>
        </p:txBody>
      </p:sp>
      <p:grpSp>
        <p:nvGrpSpPr>
          <p:cNvPr id="19" name="Group 19"/>
          <p:cNvGrpSpPr/>
          <p:nvPr/>
        </p:nvGrpSpPr>
        <p:grpSpPr>
          <a:xfrm>
            <a:off x="9920905" y="2537927"/>
            <a:ext cx="3094790" cy="1013842"/>
            <a:chOff x="0" y="0"/>
            <a:chExt cx="815089" cy="267020"/>
          </a:xfrm>
        </p:grpSpPr>
        <p:sp>
          <p:nvSpPr>
            <p:cNvPr id="20" name="Freeform 20"/>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21" name="TextBox 21"/>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22" name="TextBox 22"/>
          <p:cNvSpPr txBox="1"/>
          <p:nvPr/>
        </p:nvSpPr>
        <p:spPr>
          <a:xfrm>
            <a:off x="10248386" y="2599077"/>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Stop Word </a:t>
            </a:r>
          </a:p>
          <a:p>
            <a:pPr algn="ctr">
              <a:lnSpc>
                <a:spcPts val="3359"/>
              </a:lnSpc>
            </a:pPr>
            <a:r>
              <a:rPr lang="en-US" sz="2400">
                <a:solidFill>
                  <a:srgbClr val="172427"/>
                </a:solidFill>
                <a:latin typeface="Glacial Indifference"/>
                <a:ea typeface="Glacial Indifference"/>
                <a:cs typeface="Glacial Indifference"/>
                <a:sym typeface="Glacial Indifference"/>
              </a:rPr>
              <a:t>Removal</a:t>
            </a:r>
          </a:p>
        </p:txBody>
      </p:sp>
      <p:sp>
        <p:nvSpPr>
          <p:cNvPr id="23" name="AutoShape 23"/>
          <p:cNvSpPr/>
          <p:nvPr/>
        </p:nvSpPr>
        <p:spPr>
          <a:xfrm flipV="1">
            <a:off x="8949355" y="3063897"/>
            <a:ext cx="962025" cy="0"/>
          </a:xfrm>
          <a:prstGeom prst="line">
            <a:avLst/>
          </a:prstGeom>
          <a:ln w="38100" cap="flat">
            <a:solidFill>
              <a:srgbClr val="172427"/>
            </a:solidFill>
            <a:prstDash val="sysDot"/>
            <a:headEnd type="none" w="sm" len="sm"/>
            <a:tailEnd type="arrow" w="med" len="sm"/>
          </a:ln>
        </p:spPr>
        <p:txBody>
          <a:bodyPr/>
          <a:lstStyle/>
          <a:p>
            <a:endParaRPr lang="en-MY"/>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flipV="1">
            <a:off x="-304866" y="1044099"/>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TextBox 3"/>
          <p:cNvSpPr txBox="1"/>
          <p:nvPr/>
        </p:nvSpPr>
        <p:spPr>
          <a:xfrm>
            <a:off x="7726053" y="798195"/>
            <a:ext cx="2835894" cy="230505"/>
          </a:xfrm>
          <a:prstGeom prst="rect">
            <a:avLst/>
          </a:prstGeom>
        </p:spPr>
        <p:txBody>
          <a:bodyPr lIns="0" tIns="0" rIns="0" bIns="0" rtlCol="0" anchor="t">
            <a:spAutoFit/>
          </a:bodyPr>
          <a:lstStyle/>
          <a:p>
            <a:pPr algn="l">
              <a:lnSpc>
                <a:spcPts val="1530"/>
              </a:lnSpc>
            </a:pPr>
            <a:r>
              <a:rPr lang="en-US" sz="1700" b="1" spc="-51">
                <a:solidFill>
                  <a:srgbClr val="172427"/>
                </a:solidFill>
                <a:latin typeface="Helvetica World Bold"/>
                <a:ea typeface="Helvetica World Bold"/>
                <a:cs typeface="Helvetica World Bold"/>
                <a:sym typeface="Helvetica World Bold"/>
              </a:rPr>
              <a:t>Pre - Processing Technique</a:t>
            </a:r>
          </a:p>
        </p:txBody>
      </p:sp>
      <p:sp>
        <p:nvSpPr>
          <p:cNvPr id="4" name="TextBox 4"/>
          <p:cNvSpPr txBox="1"/>
          <p:nvPr/>
        </p:nvSpPr>
        <p:spPr>
          <a:xfrm>
            <a:off x="1028700" y="771525"/>
            <a:ext cx="3716108" cy="257175"/>
          </a:xfrm>
          <a:prstGeom prst="rect">
            <a:avLst/>
          </a:prstGeom>
        </p:spPr>
        <p:txBody>
          <a:bodyPr lIns="0" tIns="0" rIns="0" bIns="0" rtlCol="0" anchor="t">
            <a:spAutoFit/>
          </a:bodyPr>
          <a:lstStyle/>
          <a:p>
            <a:pPr marL="0" lvl="0" indent="0" algn="l">
              <a:lnSpc>
                <a:spcPts val="2040"/>
              </a:lnSpc>
            </a:pPr>
            <a:r>
              <a:rPr lang="en-US" sz="1700">
                <a:solidFill>
                  <a:srgbClr val="172427"/>
                </a:solidFill>
                <a:latin typeface="Helvetica World"/>
                <a:ea typeface="Helvetica World"/>
                <a:cs typeface="Helvetica World"/>
                <a:sym typeface="Helvetica World"/>
              </a:rPr>
              <a:t>CISB5123 TEXT ANALYTICS</a:t>
            </a:r>
          </a:p>
        </p:txBody>
      </p:sp>
      <p:sp>
        <p:nvSpPr>
          <p:cNvPr id="5" name="TextBox 5"/>
          <p:cNvSpPr txBox="1"/>
          <p:nvPr/>
        </p:nvSpPr>
        <p:spPr>
          <a:xfrm>
            <a:off x="1529834" y="1852255"/>
            <a:ext cx="4251507" cy="344805"/>
          </a:xfrm>
          <a:prstGeom prst="rect">
            <a:avLst/>
          </a:prstGeom>
        </p:spPr>
        <p:txBody>
          <a:bodyPr lIns="0" tIns="0" rIns="0" bIns="0" rtlCol="0" anchor="t">
            <a:spAutoFit/>
          </a:bodyPr>
          <a:lstStyle/>
          <a:p>
            <a:pPr algn="l">
              <a:lnSpc>
                <a:spcPts val="2519"/>
              </a:lnSpc>
            </a:pPr>
            <a:r>
              <a:rPr lang="en-US" sz="2099" b="1">
                <a:solidFill>
                  <a:srgbClr val="172427"/>
                </a:solidFill>
                <a:latin typeface="Helvetica World Bold"/>
                <a:ea typeface="Helvetica World Bold"/>
                <a:cs typeface="Helvetica World Bold"/>
                <a:sym typeface="Helvetica World Bold"/>
              </a:rPr>
              <a:t>Text Pre-processing Process</a:t>
            </a:r>
          </a:p>
        </p:txBody>
      </p:sp>
      <p:sp>
        <p:nvSpPr>
          <p:cNvPr id="6" name="TextBox 6"/>
          <p:cNvSpPr txBox="1"/>
          <p:nvPr/>
        </p:nvSpPr>
        <p:spPr>
          <a:xfrm>
            <a:off x="15468600" y="771525"/>
            <a:ext cx="1786176" cy="256480"/>
          </a:xfrm>
          <a:prstGeom prst="rect">
            <a:avLst/>
          </a:prstGeom>
        </p:spPr>
        <p:txBody>
          <a:bodyPr wrap="square" lIns="0" tIns="0" rIns="0" bIns="0" rtlCol="0" anchor="t">
            <a:spAutoFit/>
          </a:bodyPr>
          <a:lstStyle/>
          <a:p>
            <a:pPr algn="ctr">
              <a:lnSpc>
                <a:spcPts val="2040"/>
              </a:lnSpc>
              <a:spcBef>
                <a:spcPct val="0"/>
              </a:spcBef>
            </a:pPr>
            <a:r>
              <a:rPr lang="en-US" sz="1700" dirty="0">
                <a:solidFill>
                  <a:srgbClr val="172427"/>
                </a:solidFill>
                <a:latin typeface="Helvetica World"/>
                <a:ea typeface="Helvetica World"/>
                <a:cs typeface="Helvetica World"/>
                <a:sym typeface="Helvetica World"/>
              </a:rPr>
              <a:t>OSCAR GROUP</a:t>
            </a:r>
          </a:p>
        </p:txBody>
      </p:sp>
      <p:grpSp>
        <p:nvGrpSpPr>
          <p:cNvPr id="7" name="Group 7"/>
          <p:cNvGrpSpPr/>
          <p:nvPr/>
        </p:nvGrpSpPr>
        <p:grpSpPr>
          <a:xfrm>
            <a:off x="1780401" y="2466156"/>
            <a:ext cx="3094790" cy="1013842"/>
            <a:chOff x="0" y="0"/>
            <a:chExt cx="4126387" cy="1351789"/>
          </a:xfrm>
        </p:grpSpPr>
        <p:grpSp>
          <p:nvGrpSpPr>
            <p:cNvPr id="8" name="Group 8"/>
            <p:cNvGrpSpPr/>
            <p:nvPr/>
          </p:nvGrpSpPr>
          <p:grpSpPr>
            <a:xfrm>
              <a:off x="0" y="0"/>
              <a:ext cx="4126387" cy="1351789"/>
              <a:chOff x="0" y="0"/>
              <a:chExt cx="815089" cy="267020"/>
            </a:xfrm>
          </p:grpSpPr>
          <p:sp>
            <p:nvSpPr>
              <p:cNvPr id="9" name="Freeform 9"/>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0" name="TextBox 10"/>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1" name="TextBox 11"/>
            <p:cNvSpPr txBox="1"/>
            <p:nvPr/>
          </p:nvSpPr>
          <p:spPr>
            <a:xfrm>
              <a:off x="436641" y="100584"/>
              <a:ext cx="3253105" cy="109347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Unitize &amp;</a:t>
              </a:r>
            </a:p>
            <a:p>
              <a:pPr algn="ctr">
                <a:lnSpc>
                  <a:spcPts val="3359"/>
                </a:lnSpc>
              </a:pPr>
              <a:r>
                <a:rPr lang="en-US" sz="2400">
                  <a:solidFill>
                    <a:srgbClr val="172427"/>
                  </a:solidFill>
                  <a:latin typeface="Glacial Indifference"/>
                  <a:ea typeface="Glacial Indifference"/>
                  <a:cs typeface="Glacial Indifference"/>
                  <a:sym typeface="Glacial Indifference"/>
                </a:rPr>
                <a:t>Tokenize </a:t>
              </a:r>
            </a:p>
          </p:txBody>
        </p:sp>
      </p:grpSp>
      <p:sp>
        <p:nvSpPr>
          <p:cNvPr id="12" name="TextBox 12"/>
          <p:cNvSpPr txBox="1"/>
          <p:nvPr/>
        </p:nvSpPr>
        <p:spPr>
          <a:xfrm>
            <a:off x="1529834" y="3999982"/>
            <a:ext cx="5208446" cy="37338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Stemming:</a:t>
            </a:r>
          </a:p>
        </p:txBody>
      </p:sp>
      <p:sp>
        <p:nvSpPr>
          <p:cNvPr id="13" name="TextBox 13"/>
          <p:cNvSpPr txBox="1"/>
          <p:nvPr/>
        </p:nvSpPr>
        <p:spPr>
          <a:xfrm>
            <a:off x="1529834" y="4420987"/>
            <a:ext cx="14932164" cy="2219325"/>
          </a:xfrm>
          <a:prstGeom prst="rect">
            <a:avLst/>
          </a:prstGeom>
        </p:spPr>
        <p:txBody>
          <a:bodyPr lIns="0" tIns="0" rIns="0" bIns="0" rtlCol="0" anchor="t">
            <a:spAutoFit/>
          </a:bodyPr>
          <a:lstStyle/>
          <a:p>
            <a:pPr algn="just">
              <a:lnSpc>
                <a:spcPts val="2999"/>
              </a:lnSpc>
            </a:pPr>
            <a:r>
              <a:rPr lang="en-US" sz="2499">
                <a:solidFill>
                  <a:srgbClr val="172427"/>
                </a:solidFill>
                <a:latin typeface="Helvetica World"/>
                <a:ea typeface="Helvetica World"/>
                <a:cs typeface="Helvetica World"/>
                <a:sym typeface="Helvetica World"/>
              </a:rPr>
              <a:t>still collect thought experienc film million murphi might well start clear space mantl best actor oscarthi film masterclass weav narr differ time period explor profound depth man whose action alter world trajectori forev better wors nolan bring us complex oppenheim moral conflict stir within himmurphi portray rivet long runtim becam afterthought robert down jr also offer great perform nolan push pull use sound design throughout cherri topsom viewer might need brief refresh wwii cold war histori film lover happi willingli lose film hour end</a:t>
            </a:r>
          </a:p>
        </p:txBody>
      </p:sp>
      <p:grpSp>
        <p:nvGrpSpPr>
          <p:cNvPr id="14" name="Group 14"/>
          <p:cNvGrpSpPr/>
          <p:nvPr/>
        </p:nvGrpSpPr>
        <p:grpSpPr>
          <a:xfrm>
            <a:off x="5845040" y="2466156"/>
            <a:ext cx="3094790" cy="1013842"/>
            <a:chOff x="0" y="0"/>
            <a:chExt cx="815089" cy="267020"/>
          </a:xfrm>
        </p:grpSpPr>
        <p:sp>
          <p:nvSpPr>
            <p:cNvPr id="15" name="Freeform 15"/>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16" name="TextBox 16"/>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17" name="TextBox 17"/>
          <p:cNvSpPr txBox="1"/>
          <p:nvPr/>
        </p:nvSpPr>
        <p:spPr>
          <a:xfrm>
            <a:off x="6176152" y="2527307"/>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Standardize &amp; </a:t>
            </a:r>
          </a:p>
          <a:p>
            <a:pPr algn="ctr">
              <a:lnSpc>
                <a:spcPts val="3359"/>
              </a:lnSpc>
            </a:pPr>
            <a:r>
              <a:rPr lang="en-US" sz="2400">
                <a:solidFill>
                  <a:srgbClr val="172427"/>
                </a:solidFill>
                <a:latin typeface="Glacial Indifference"/>
                <a:ea typeface="Glacial Indifference"/>
                <a:cs typeface="Glacial Indifference"/>
                <a:sym typeface="Glacial Indifference"/>
              </a:rPr>
              <a:t>Cleanse</a:t>
            </a:r>
          </a:p>
        </p:txBody>
      </p:sp>
      <p:sp>
        <p:nvSpPr>
          <p:cNvPr id="18" name="AutoShape 18"/>
          <p:cNvSpPr/>
          <p:nvPr/>
        </p:nvSpPr>
        <p:spPr>
          <a:xfrm flipV="1">
            <a:off x="4875191" y="2992127"/>
            <a:ext cx="962025" cy="0"/>
          </a:xfrm>
          <a:prstGeom prst="line">
            <a:avLst/>
          </a:prstGeom>
          <a:ln w="38100" cap="flat">
            <a:solidFill>
              <a:srgbClr val="172427"/>
            </a:solidFill>
            <a:prstDash val="sysDot"/>
            <a:headEnd type="none" w="sm" len="sm"/>
            <a:tailEnd type="arrow" w="med" len="sm"/>
          </a:ln>
        </p:spPr>
        <p:txBody>
          <a:bodyPr/>
          <a:lstStyle/>
          <a:p>
            <a:endParaRPr lang="en-MY"/>
          </a:p>
        </p:txBody>
      </p:sp>
      <p:grpSp>
        <p:nvGrpSpPr>
          <p:cNvPr id="19" name="Group 19"/>
          <p:cNvGrpSpPr/>
          <p:nvPr/>
        </p:nvGrpSpPr>
        <p:grpSpPr>
          <a:xfrm>
            <a:off x="9920905" y="2466156"/>
            <a:ext cx="3094790" cy="1013842"/>
            <a:chOff x="0" y="0"/>
            <a:chExt cx="815089" cy="267020"/>
          </a:xfrm>
        </p:grpSpPr>
        <p:sp>
          <p:nvSpPr>
            <p:cNvPr id="20" name="Freeform 20"/>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21" name="TextBox 21"/>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22" name="TextBox 22"/>
          <p:cNvSpPr txBox="1"/>
          <p:nvPr/>
        </p:nvSpPr>
        <p:spPr>
          <a:xfrm>
            <a:off x="10248386" y="2527307"/>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Stop Word </a:t>
            </a:r>
          </a:p>
          <a:p>
            <a:pPr algn="ctr">
              <a:lnSpc>
                <a:spcPts val="3359"/>
              </a:lnSpc>
            </a:pPr>
            <a:r>
              <a:rPr lang="en-US" sz="2400">
                <a:solidFill>
                  <a:srgbClr val="172427"/>
                </a:solidFill>
                <a:latin typeface="Glacial Indifference"/>
                <a:ea typeface="Glacial Indifference"/>
                <a:cs typeface="Glacial Indifference"/>
                <a:sym typeface="Glacial Indifference"/>
              </a:rPr>
              <a:t>Removal</a:t>
            </a:r>
          </a:p>
        </p:txBody>
      </p:sp>
      <p:sp>
        <p:nvSpPr>
          <p:cNvPr id="23" name="AutoShape 23"/>
          <p:cNvSpPr/>
          <p:nvPr/>
        </p:nvSpPr>
        <p:spPr>
          <a:xfrm flipV="1">
            <a:off x="8949355" y="2992127"/>
            <a:ext cx="962025" cy="0"/>
          </a:xfrm>
          <a:prstGeom prst="line">
            <a:avLst/>
          </a:prstGeom>
          <a:ln w="38100" cap="flat">
            <a:solidFill>
              <a:srgbClr val="172427"/>
            </a:solidFill>
            <a:prstDash val="sysDot"/>
            <a:headEnd type="none" w="sm" len="sm"/>
            <a:tailEnd type="arrow" w="med" len="sm"/>
          </a:ln>
        </p:spPr>
        <p:txBody>
          <a:bodyPr/>
          <a:lstStyle/>
          <a:p>
            <a:endParaRPr lang="en-MY"/>
          </a:p>
        </p:txBody>
      </p:sp>
      <p:grpSp>
        <p:nvGrpSpPr>
          <p:cNvPr id="24" name="Group 24"/>
          <p:cNvGrpSpPr/>
          <p:nvPr/>
        </p:nvGrpSpPr>
        <p:grpSpPr>
          <a:xfrm>
            <a:off x="13987246" y="2466156"/>
            <a:ext cx="3094790" cy="1013842"/>
            <a:chOff x="0" y="0"/>
            <a:chExt cx="815089" cy="267020"/>
          </a:xfrm>
        </p:grpSpPr>
        <p:sp>
          <p:nvSpPr>
            <p:cNvPr id="25" name="Freeform 25"/>
            <p:cNvSpPr/>
            <p:nvPr/>
          </p:nvSpPr>
          <p:spPr>
            <a:xfrm>
              <a:off x="0" y="0"/>
              <a:ext cx="815089" cy="267020"/>
            </a:xfrm>
            <a:custGeom>
              <a:avLst/>
              <a:gdLst/>
              <a:ahLst/>
              <a:cxnLst/>
              <a:rect l="l" t="t" r="r" b="b"/>
              <a:pathLst>
                <a:path w="815089" h="267020">
                  <a:moveTo>
                    <a:pt x="110070" y="0"/>
                  </a:moveTo>
                  <a:lnTo>
                    <a:pt x="705019" y="0"/>
                  </a:lnTo>
                  <a:cubicBezTo>
                    <a:pt x="734211" y="0"/>
                    <a:pt x="762208" y="11597"/>
                    <a:pt x="782850" y="32239"/>
                  </a:cubicBezTo>
                  <a:cubicBezTo>
                    <a:pt x="803492" y="52881"/>
                    <a:pt x="815089" y="80878"/>
                    <a:pt x="815089" y="110070"/>
                  </a:cubicBezTo>
                  <a:lnTo>
                    <a:pt x="815089" y="156950"/>
                  </a:lnTo>
                  <a:cubicBezTo>
                    <a:pt x="815089" y="186142"/>
                    <a:pt x="803492" y="214139"/>
                    <a:pt x="782850" y="234781"/>
                  </a:cubicBezTo>
                  <a:cubicBezTo>
                    <a:pt x="762208" y="255423"/>
                    <a:pt x="734211" y="267020"/>
                    <a:pt x="705019" y="267020"/>
                  </a:cubicBezTo>
                  <a:lnTo>
                    <a:pt x="110070" y="267020"/>
                  </a:lnTo>
                  <a:cubicBezTo>
                    <a:pt x="80878" y="267020"/>
                    <a:pt x="52881" y="255423"/>
                    <a:pt x="32239" y="234781"/>
                  </a:cubicBezTo>
                  <a:cubicBezTo>
                    <a:pt x="11597" y="214139"/>
                    <a:pt x="0" y="186142"/>
                    <a:pt x="0" y="156950"/>
                  </a:cubicBezTo>
                  <a:lnTo>
                    <a:pt x="0" y="110070"/>
                  </a:lnTo>
                  <a:cubicBezTo>
                    <a:pt x="0" y="80878"/>
                    <a:pt x="11597" y="52881"/>
                    <a:pt x="32239" y="32239"/>
                  </a:cubicBezTo>
                  <a:cubicBezTo>
                    <a:pt x="52881" y="11597"/>
                    <a:pt x="80878" y="0"/>
                    <a:pt x="110070" y="0"/>
                  </a:cubicBezTo>
                  <a:close/>
                </a:path>
              </a:pathLst>
            </a:custGeom>
            <a:solidFill>
              <a:srgbClr val="FF5757">
                <a:alpha val="66667"/>
              </a:srgbClr>
            </a:solidFill>
            <a:ln w="38100" cap="rnd">
              <a:solidFill>
                <a:srgbClr val="000000">
                  <a:alpha val="66667"/>
                </a:srgbClr>
              </a:solidFill>
              <a:prstDash val="solid"/>
              <a:round/>
            </a:ln>
          </p:spPr>
          <p:txBody>
            <a:bodyPr/>
            <a:lstStyle/>
            <a:p>
              <a:endParaRPr lang="en-MY"/>
            </a:p>
          </p:txBody>
        </p:sp>
        <p:sp>
          <p:nvSpPr>
            <p:cNvPr id="26" name="TextBox 26"/>
            <p:cNvSpPr txBox="1"/>
            <p:nvPr/>
          </p:nvSpPr>
          <p:spPr>
            <a:xfrm>
              <a:off x="0" y="0"/>
              <a:ext cx="815089" cy="267020"/>
            </a:xfrm>
            <a:prstGeom prst="rect">
              <a:avLst/>
            </a:prstGeom>
          </p:spPr>
          <p:txBody>
            <a:bodyPr lIns="50800" tIns="50800" rIns="50800" bIns="50800" rtlCol="0" anchor="ctr"/>
            <a:lstStyle/>
            <a:p>
              <a:pPr algn="ctr">
                <a:lnSpc>
                  <a:spcPts val="2040"/>
                </a:lnSpc>
              </a:pPr>
              <a:endParaRPr/>
            </a:p>
          </p:txBody>
        </p:sp>
      </p:grpSp>
      <p:sp>
        <p:nvSpPr>
          <p:cNvPr id="27" name="TextBox 27"/>
          <p:cNvSpPr txBox="1"/>
          <p:nvPr/>
        </p:nvSpPr>
        <p:spPr>
          <a:xfrm>
            <a:off x="14314727" y="2527307"/>
            <a:ext cx="2439829" cy="834390"/>
          </a:xfrm>
          <a:prstGeom prst="rect">
            <a:avLst/>
          </a:prstGeom>
        </p:spPr>
        <p:txBody>
          <a:bodyPr lIns="0" tIns="0" rIns="0" bIns="0" rtlCol="0" anchor="t">
            <a:spAutoFit/>
          </a:bodyPr>
          <a:lstStyle/>
          <a:p>
            <a:pPr algn="ctr">
              <a:lnSpc>
                <a:spcPts val="3359"/>
              </a:lnSpc>
            </a:pPr>
            <a:r>
              <a:rPr lang="en-US" sz="2400">
                <a:solidFill>
                  <a:srgbClr val="172427"/>
                </a:solidFill>
                <a:latin typeface="Glacial Indifference"/>
                <a:ea typeface="Glacial Indifference"/>
                <a:cs typeface="Glacial Indifference"/>
                <a:sym typeface="Glacial Indifference"/>
              </a:rPr>
              <a:t>Stem &amp;</a:t>
            </a:r>
          </a:p>
          <a:p>
            <a:pPr algn="ctr">
              <a:lnSpc>
                <a:spcPts val="3359"/>
              </a:lnSpc>
            </a:pPr>
            <a:r>
              <a:rPr lang="en-US" sz="2400">
                <a:solidFill>
                  <a:srgbClr val="172427"/>
                </a:solidFill>
                <a:latin typeface="Glacial Indifference"/>
                <a:ea typeface="Glacial Indifference"/>
                <a:cs typeface="Glacial Indifference"/>
                <a:sym typeface="Glacial Indifference"/>
              </a:rPr>
              <a:t>Lemmatize</a:t>
            </a:r>
          </a:p>
        </p:txBody>
      </p:sp>
      <p:sp>
        <p:nvSpPr>
          <p:cNvPr id="28" name="AutoShape 28"/>
          <p:cNvSpPr/>
          <p:nvPr/>
        </p:nvSpPr>
        <p:spPr>
          <a:xfrm flipV="1">
            <a:off x="13025221" y="3011177"/>
            <a:ext cx="962025" cy="0"/>
          </a:xfrm>
          <a:prstGeom prst="line">
            <a:avLst/>
          </a:prstGeom>
          <a:ln w="38100" cap="flat">
            <a:solidFill>
              <a:srgbClr val="172427"/>
            </a:solidFill>
            <a:prstDash val="sysDot"/>
            <a:headEnd type="none" w="sm" len="sm"/>
            <a:tailEnd type="arrow" w="med" len="sm"/>
          </a:ln>
        </p:spPr>
        <p:txBody>
          <a:bodyPr/>
          <a:lstStyle/>
          <a:p>
            <a:endParaRPr lang="en-MY"/>
          </a:p>
        </p:txBody>
      </p:sp>
      <p:sp>
        <p:nvSpPr>
          <p:cNvPr id="29" name="TextBox 29"/>
          <p:cNvSpPr txBox="1"/>
          <p:nvPr/>
        </p:nvSpPr>
        <p:spPr>
          <a:xfrm>
            <a:off x="1529834" y="6897487"/>
            <a:ext cx="5208446" cy="373380"/>
          </a:xfrm>
          <a:prstGeom prst="rect">
            <a:avLst/>
          </a:prstGeom>
        </p:spPr>
        <p:txBody>
          <a:bodyPr lIns="0" tIns="0" rIns="0" bIns="0" rtlCol="0" anchor="t">
            <a:spAutoFit/>
          </a:bodyPr>
          <a:lstStyle/>
          <a:p>
            <a:pPr algn="l">
              <a:lnSpc>
                <a:spcPts val="2639"/>
              </a:lnSpc>
            </a:pPr>
            <a:r>
              <a:rPr lang="en-US" sz="2199" b="1">
                <a:solidFill>
                  <a:srgbClr val="172427"/>
                </a:solidFill>
                <a:latin typeface="Helvetica World Bold"/>
                <a:ea typeface="Helvetica World Bold"/>
                <a:cs typeface="Helvetica World Bold"/>
                <a:sym typeface="Helvetica World Bold"/>
              </a:rPr>
              <a:t>Lemmatizing:</a:t>
            </a:r>
          </a:p>
        </p:txBody>
      </p:sp>
      <p:sp>
        <p:nvSpPr>
          <p:cNvPr id="30" name="TextBox 30"/>
          <p:cNvSpPr txBox="1"/>
          <p:nvPr/>
        </p:nvSpPr>
        <p:spPr>
          <a:xfrm>
            <a:off x="1529834" y="7289917"/>
            <a:ext cx="14932164" cy="2219325"/>
          </a:xfrm>
          <a:prstGeom prst="rect">
            <a:avLst/>
          </a:prstGeom>
        </p:spPr>
        <p:txBody>
          <a:bodyPr lIns="0" tIns="0" rIns="0" bIns="0" rtlCol="0" anchor="t">
            <a:spAutoFit/>
          </a:bodyPr>
          <a:lstStyle/>
          <a:p>
            <a:pPr algn="just">
              <a:lnSpc>
                <a:spcPts val="2999"/>
              </a:lnSpc>
            </a:pPr>
            <a:r>
              <a:rPr lang="en-US" sz="2499">
                <a:solidFill>
                  <a:srgbClr val="172427"/>
                </a:solidFill>
                <a:latin typeface="Helvetica World"/>
                <a:ea typeface="Helvetica World"/>
                <a:cs typeface="Helvetica World"/>
                <a:sym typeface="Helvetica World"/>
              </a:rPr>
              <a:t>still collect thought experience film million murphy might well start clear space mantle best actor oscar this film masterclass weave narrative different time period explore profound depths man whose action alter world trajectory forever good bad nolan brings u complexity oppenheimer moral conflict stir within him murphys portrayal rivet long runtime become afterthought robert down jr also offer great performance nolan push pull use sound design throughout cherry top some viewer might need brief refresher wwii cold war history film lover happy willingly lose film hour end</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EDEF"/>
        </a:solidFill>
        <a:effectLst/>
      </p:bgPr>
    </p:bg>
    <p:spTree>
      <p:nvGrpSpPr>
        <p:cNvPr id="1" name=""/>
        <p:cNvGrpSpPr/>
        <p:nvPr/>
      </p:nvGrpSpPr>
      <p:grpSpPr>
        <a:xfrm>
          <a:off x="0" y="0"/>
          <a:ext cx="0" cy="0"/>
          <a:chOff x="0" y="0"/>
          <a:chExt cx="0" cy="0"/>
        </a:xfrm>
      </p:grpSpPr>
      <p:sp>
        <p:nvSpPr>
          <p:cNvPr id="2" name="AutoShape 2"/>
          <p:cNvSpPr/>
          <p:nvPr/>
        </p:nvSpPr>
        <p:spPr>
          <a:xfrm>
            <a:off x="-152433" y="1129903"/>
            <a:ext cx="18592866" cy="0"/>
          </a:xfrm>
          <a:prstGeom prst="line">
            <a:avLst/>
          </a:prstGeom>
          <a:ln w="9525" cap="flat">
            <a:solidFill>
              <a:srgbClr val="172427"/>
            </a:solidFill>
            <a:prstDash val="solid"/>
            <a:headEnd type="none" w="sm" len="sm"/>
            <a:tailEnd type="none" w="sm" len="sm"/>
          </a:ln>
        </p:spPr>
        <p:txBody>
          <a:bodyPr/>
          <a:lstStyle/>
          <a:p>
            <a:endParaRPr lang="en-MY"/>
          </a:p>
        </p:txBody>
      </p:sp>
      <p:sp>
        <p:nvSpPr>
          <p:cNvPr id="3" name="Freeform 3"/>
          <p:cNvSpPr/>
          <p:nvPr/>
        </p:nvSpPr>
        <p:spPr>
          <a:xfrm>
            <a:off x="-3150336" y="-1420431"/>
            <a:ext cx="8250226" cy="8229600"/>
          </a:xfrm>
          <a:custGeom>
            <a:avLst/>
            <a:gdLst/>
            <a:ahLst/>
            <a:cxnLst/>
            <a:rect l="l" t="t" r="r" b="b"/>
            <a:pathLst>
              <a:path w="8250226" h="8229600">
                <a:moveTo>
                  <a:pt x="0" y="0"/>
                </a:moveTo>
                <a:lnTo>
                  <a:pt x="8250225" y="0"/>
                </a:lnTo>
                <a:lnTo>
                  <a:pt x="8250225" y="8229600"/>
                </a:lnTo>
                <a:lnTo>
                  <a:pt x="0" y="8229600"/>
                </a:lnTo>
                <a:lnTo>
                  <a:pt x="0" y="0"/>
                </a:lnTo>
                <a:close/>
              </a:path>
            </a:pathLst>
          </a:custGeom>
          <a:blipFill>
            <a:blip r:embed="rId2"/>
            <a:stretch>
              <a:fillRect/>
            </a:stretch>
          </a:blipFill>
        </p:spPr>
        <p:txBody>
          <a:bodyPr/>
          <a:lstStyle/>
          <a:p>
            <a:endParaRPr lang="en-MY"/>
          </a:p>
        </p:txBody>
      </p:sp>
      <p:sp>
        <p:nvSpPr>
          <p:cNvPr id="4" name="Freeform 4"/>
          <p:cNvSpPr/>
          <p:nvPr/>
        </p:nvSpPr>
        <p:spPr>
          <a:xfrm>
            <a:off x="1028700" y="3421031"/>
            <a:ext cx="16230600" cy="6776276"/>
          </a:xfrm>
          <a:custGeom>
            <a:avLst/>
            <a:gdLst/>
            <a:ahLst/>
            <a:cxnLst/>
            <a:rect l="l" t="t" r="r" b="b"/>
            <a:pathLst>
              <a:path w="16230600" h="6776276">
                <a:moveTo>
                  <a:pt x="0" y="0"/>
                </a:moveTo>
                <a:lnTo>
                  <a:pt x="16230600" y="0"/>
                </a:lnTo>
                <a:lnTo>
                  <a:pt x="16230600" y="6776276"/>
                </a:lnTo>
                <a:lnTo>
                  <a:pt x="0" y="6776276"/>
                </a:lnTo>
                <a:lnTo>
                  <a:pt x="0" y="0"/>
                </a:lnTo>
                <a:close/>
              </a:path>
            </a:pathLst>
          </a:custGeom>
          <a:blipFill>
            <a:blip r:embed="rId3"/>
            <a:stretch>
              <a:fillRect/>
            </a:stretch>
          </a:blipFill>
        </p:spPr>
        <p:txBody>
          <a:bodyPr/>
          <a:lstStyle/>
          <a:p>
            <a:endParaRPr lang="en-MY"/>
          </a:p>
        </p:txBody>
      </p:sp>
      <p:sp>
        <p:nvSpPr>
          <p:cNvPr id="5" name="TextBox 5"/>
          <p:cNvSpPr txBox="1"/>
          <p:nvPr/>
        </p:nvSpPr>
        <p:spPr>
          <a:xfrm>
            <a:off x="5777223" y="5045232"/>
            <a:ext cx="10634946" cy="1373504"/>
          </a:xfrm>
          <a:prstGeom prst="rect">
            <a:avLst/>
          </a:prstGeom>
        </p:spPr>
        <p:txBody>
          <a:bodyPr lIns="0" tIns="0" rIns="0" bIns="0" rtlCol="0" anchor="t">
            <a:spAutoFit/>
          </a:bodyPr>
          <a:lstStyle/>
          <a:p>
            <a:pPr algn="l">
              <a:lnSpc>
                <a:spcPts val="8999"/>
              </a:lnSpc>
            </a:pPr>
            <a:r>
              <a:rPr lang="en-US" sz="9999" b="1" spc="-299">
                <a:solidFill>
                  <a:srgbClr val="172427"/>
                </a:solidFill>
                <a:latin typeface="Helvetica World Bold"/>
                <a:ea typeface="Helvetica World Bold"/>
                <a:cs typeface="Helvetica World Bold"/>
                <a:sym typeface="Helvetica World Bold"/>
              </a:rPr>
              <a:t>Thank you </a:t>
            </a:r>
          </a:p>
        </p:txBody>
      </p:sp>
      <p:sp>
        <p:nvSpPr>
          <p:cNvPr id="6" name="TextBox 6"/>
          <p:cNvSpPr txBox="1"/>
          <p:nvPr/>
        </p:nvSpPr>
        <p:spPr>
          <a:xfrm>
            <a:off x="1028700" y="714375"/>
            <a:ext cx="4071189" cy="257175"/>
          </a:xfrm>
          <a:prstGeom prst="rect">
            <a:avLst/>
          </a:prstGeom>
        </p:spPr>
        <p:txBody>
          <a:bodyPr lIns="0" tIns="0" rIns="0" bIns="0" rtlCol="0" anchor="t">
            <a:spAutoFit/>
          </a:bodyPr>
          <a:lstStyle/>
          <a:p>
            <a:pPr marL="0" lvl="0" indent="0" algn="l">
              <a:lnSpc>
                <a:spcPts val="2040"/>
              </a:lnSpc>
            </a:pPr>
            <a:r>
              <a:rPr lang="en-US" sz="1700">
                <a:solidFill>
                  <a:srgbClr val="000000"/>
                </a:solidFill>
                <a:latin typeface="Helvetica World"/>
                <a:ea typeface="Helvetica World"/>
                <a:cs typeface="Helvetica World"/>
                <a:sym typeface="Helvetica World"/>
              </a:rPr>
              <a:t>CISB5123 TEXT ANALYTICS</a:t>
            </a:r>
          </a:p>
        </p:txBody>
      </p:sp>
      <p:sp>
        <p:nvSpPr>
          <p:cNvPr id="7" name="TextBox 7"/>
          <p:cNvSpPr txBox="1"/>
          <p:nvPr/>
        </p:nvSpPr>
        <p:spPr>
          <a:xfrm>
            <a:off x="15565038" y="708373"/>
            <a:ext cx="1694262" cy="257175"/>
          </a:xfrm>
          <a:prstGeom prst="rect">
            <a:avLst/>
          </a:prstGeom>
        </p:spPr>
        <p:txBody>
          <a:bodyPr lIns="0" tIns="0" rIns="0" bIns="0" rtlCol="0" anchor="t">
            <a:spAutoFit/>
          </a:bodyPr>
          <a:lstStyle/>
          <a:p>
            <a:pPr algn="just">
              <a:lnSpc>
                <a:spcPts val="2045"/>
              </a:lnSpc>
            </a:pPr>
            <a:r>
              <a:rPr lang="en-US" sz="1704">
                <a:solidFill>
                  <a:srgbClr val="000000"/>
                </a:solidFill>
                <a:latin typeface="Helvetica World"/>
                <a:ea typeface="Helvetica World"/>
                <a:cs typeface="Helvetica World"/>
                <a:sym typeface="Helvetica World"/>
              </a:rPr>
              <a:t>OSCAR GROUP</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1358</Words>
  <Application>Microsoft Office PowerPoint</Application>
  <PresentationFormat>Custom</PresentationFormat>
  <Paragraphs>104</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Canva Sans</vt:lpstr>
      <vt:lpstr>Glacial Indifference Bold</vt:lpstr>
      <vt:lpstr>Helvetica World Bold Italics</vt:lpstr>
      <vt:lpstr>Canva Sans Italics</vt:lpstr>
      <vt:lpstr>Helvetica World Bold</vt:lpstr>
      <vt:lpstr>Glacial Indifference</vt:lpstr>
      <vt:lpstr>Inter</vt:lpstr>
      <vt:lpstr>Arial</vt:lpstr>
      <vt:lpstr>Helvetica World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Proejct 1</dc:title>
  <cp:lastModifiedBy>Kila Wong</cp:lastModifiedBy>
  <cp:revision>2</cp:revision>
  <dcterms:created xsi:type="dcterms:W3CDTF">2006-08-16T00:00:00Z</dcterms:created>
  <dcterms:modified xsi:type="dcterms:W3CDTF">2025-04-14T15:08:17Z</dcterms:modified>
  <dc:identifier>DAGkkg73ZSk</dc:identifier>
</cp:coreProperties>
</file>